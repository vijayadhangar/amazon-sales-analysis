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68" r:id="rId2"/>
    <p:sldId id="258" r:id="rId3"/>
    <p:sldId id="263" r:id="rId4"/>
    <p:sldId id="269" r:id="rId5"/>
    <p:sldId id="270" r:id="rId6"/>
    <p:sldId id="271" r:id="rId7"/>
    <p:sldId id="262" r:id="rId8"/>
    <p:sldId id="265"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4747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C:\Users\Vijaya%20Dhangar\AppData\Roaming\Microsoft\Excel\Amazon%20Sales%20Records%20(version%201).xls"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D:\Ineuron%20Internship\Amazon%20Sales%20Records.xls"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oleObject" Target="file:///D:\Ineuron%20Internship\Amazon%20Sales%20Records.xls"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D:\Ineuron%20Internship\Amazon%20Sales%20Records.xls"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D:\Ineuron%20Internship\Amazon%20Sales%20Records.xls"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[Amazon Sales Records(AutoRecovered).xls]Sheet2!PivotTable2</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Sheet2!$C$1:$C$2</c:f>
              <c:strCache>
                <c:ptCount val="1"/>
                <c:pt idx="0">
                  <c:v>Total</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multiLvlStrRef>
              <c:f>Sheet2!$A$3:$B$40</c:f>
              <c:multiLvlStrCache>
                <c:ptCount val="29"/>
                <c:lvl>
                  <c:pt idx="0">
                    <c:v>Qtr1</c:v>
                  </c:pt>
                  <c:pt idx="1">
                    <c:v>Qtr2</c:v>
                  </c:pt>
                  <c:pt idx="2">
                    <c:v>Qtr4</c:v>
                  </c:pt>
                  <c:pt idx="3">
                    <c:v>Qtr1</c:v>
                  </c:pt>
                  <c:pt idx="4">
                    <c:v>Qtr2</c:v>
                  </c:pt>
                  <c:pt idx="5">
                    <c:v>Qtr3</c:v>
                  </c:pt>
                  <c:pt idx="6">
                    <c:v>Qtr4</c:v>
                  </c:pt>
                  <c:pt idx="7">
                    <c:v>Qtr1</c:v>
                  </c:pt>
                  <c:pt idx="8">
                    <c:v>Qtr2</c:v>
                  </c:pt>
                  <c:pt idx="9">
                    <c:v>Qtr3</c:v>
                  </c:pt>
                  <c:pt idx="10">
                    <c:v>Qtr4</c:v>
                  </c:pt>
                  <c:pt idx="11">
                    <c:v>Qtr1</c:v>
                  </c:pt>
                  <c:pt idx="12">
                    <c:v>Qtr2</c:v>
                  </c:pt>
                  <c:pt idx="13">
                    <c:v>Qtr3</c:v>
                  </c:pt>
                  <c:pt idx="14">
                    <c:v>Qtr4</c:v>
                  </c:pt>
                  <c:pt idx="15">
                    <c:v>Qtr1</c:v>
                  </c:pt>
                  <c:pt idx="16">
                    <c:v>Qtr2</c:v>
                  </c:pt>
                  <c:pt idx="17">
                    <c:v>Qtr3</c:v>
                  </c:pt>
                  <c:pt idx="18">
                    <c:v>Qtr4</c:v>
                  </c:pt>
                  <c:pt idx="19">
                    <c:v>Qtr1</c:v>
                  </c:pt>
                  <c:pt idx="20">
                    <c:v>Qtr2</c:v>
                  </c:pt>
                  <c:pt idx="21">
                    <c:v>Qtr3</c:v>
                  </c:pt>
                  <c:pt idx="22">
                    <c:v>Qtr4</c:v>
                  </c:pt>
                  <c:pt idx="23">
                    <c:v>Qtr1</c:v>
                  </c:pt>
                  <c:pt idx="24">
                    <c:v>Qtr2</c:v>
                  </c:pt>
                  <c:pt idx="25">
                    <c:v>Qtr3</c:v>
                  </c:pt>
                  <c:pt idx="26">
                    <c:v>Qtr4</c:v>
                  </c:pt>
                  <c:pt idx="27">
                    <c:v>Qtr1</c:v>
                  </c:pt>
                  <c:pt idx="28">
                    <c:v>Qtr2</c:v>
                  </c:pt>
                </c:lvl>
                <c:lvl>
                  <c:pt idx="0">
                    <c:v>2010</c:v>
                  </c:pt>
                  <c:pt idx="3">
                    <c:v>2011</c:v>
                  </c:pt>
                  <c:pt idx="7">
                    <c:v>2012</c:v>
                  </c:pt>
                  <c:pt idx="11">
                    <c:v>2013</c:v>
                  </c:pt>
                  <c:pt idx="15">
                    <c:v>2014</c:v>
                  </c:pt>
                  <c:pt idx="19">
                    <c:v>2015</c:v>
                  </c:pt>
                  <c:pt idx="23">
                    <c:v>2016</c:v>
                  </c:pt>
                  <c:pt idx="27">
                    <c:v>2017</c:v>
                  </c:pt>
                </c:lvl>
              </c:multiLvlStrCache>
            </c:multiLvlStrRef>
          </c:cat>
          <c:val>
            <c:numRef>
              <c:f>Sheet2!$C$3:$C$40</c:f>
              <c:numCache>
                <c:formatCode>0.00,"M"</c:formatCode>
                <c:ptCount val="29"/>
                <c:pt idx="0">
                  <c:v>9503</c:v>
                </c:pt>
                <c:pt idx="1">
                  <c:v>25652</c:v>
                </c:pt>
                <c:pt idx="2">
                  <c:v>26416</c:v>
                </c:pt>
                <c:pt idx="3">
                  <c:v>21070</c:v>
                </c:pt>
                <c:pt idx="4">
                  <c:v>10052</c:v>
                </c:pt>
                <c:pt idx="5">
                  <c:v>4620</c:v>
                </c:pt>
                <c:pt idx="6">
                  <c:v>19026</c:v>
                </c:pt>
                <c:pt idx="7">
                  <c:v>23781</c:v>
                </c:pt>
                <c:pt idx="8">
                  <c:v>27507</c:v>
                </c:pt>
                <c:pt idx="9">
                  <c:v>41995</c:v>
                </c:pt>
                <c:pt idx="10">
                  <c:v>4684</c:v>
                </c:pt>
                <c:pt idx="11">
                  <c:v>9125</c:v>
                </c:pt>
                <c:pt idx="12">
                  <c:v>10442</c:v>
                </c:pt>
                <c:pt idx="13">
                  <c:v>36789</c:v>
                </c:pt>
                <c:pt idx="14">
                  <c:v>8307</c:v>
                </c:pt>
                <c:pt idx="15">
                  <c:v>10460</c:v>
                </c:pt>
                <c:pt idx="16">
                  <c:v>31139</c:v>
                </c:pt>
                <c:pt idx="17">
                  <c:v>20868</c:v>
                </c:pt>
                <c:pt idx="18">
                  <c:v>29573</c:v>
                </c:pt>
                <c:pt idx="19">
                  <c:v>14071</c:v>
                </c:pt>
                <c:pt idx="20">
                  <c:v>12772</c:v>
                </c:pt>
                <c:pt idx="21">
                  <c:v>13783</c:v>
                </c:pt>
                <c:pt idx="22">
                  <c:v>8854</c:v>
                </c:pt>
                <c:pt idx="23">
                  <c:v>962</c:v>
                </c:pt>
                <c:pt idx="24">
                  <c:v>8780</c:v>
                </c:pt>
                <c:pt idx="25">
                  <c:v>5498</c:v>
                </c:pt>
                <c:pt idx="26">
                  <c:v>27916</c:v>
                </c:pt>
                <c:pt idx="27">
                  <c:v>32346</c:v>
                </c:pt>
                <c:pt idx="28">
                  <c:v>16880</c:v>
                </c:pt>
              </c:numCache>
            </c:numRef>
          </c:val>
          <c:extLst>
            <c:ext xmlns:c16="http://schemas.microsoft.com/office/drawing/2014/chart" uri="{C3380CC4-5D6E-409C-BE32-E72D297353CC}">
              <c16:uniqueId val="{00000000-8207-4B93-8EE8-19739AF626D5}"/>
            </c:ext>
          </c:extLst>
        </c:ser>
        <c:dLbls>
          <c:showLegendKey val="0"/>
          <c:showVal val="0"/>
          <c:showCatName val="0"/>
          <c:showSerName val="0"/>
          <c:showPercent val="0"/>
          <c:showBubbleSize val="0"/>
        </c:dLbls>
        <c:gapWidth val="219"/>
        <c:axId val="2129814528"/>
        <c:axId val="1"/>
      </c:barChart>
      <c:catAx>
        <c:axId val="212981452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
        <c:crosses val="autoZero"/>
        <c:auto val="0"/>
        <c:lblAlgn val="ctr"/>
        <c:lblOffset val="100"/>
        <c:noMultiLvlLbl val="0"/>
      </c:catAx>
      <c:valAx>
        <c:axId val="1"/>
        <c:scaling>
          <c:orientation val="minMax"/>
        </c:scaling>
        <c:delete val="0"/>
        <c:axPos val="l"/>
        <c:numFmt formatCode="0.00,&quot;M&quot;" sourceLinked="1"/>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129814528"/>
        <c:crosses val="autoZero"/>
        <c:crossBetween val="between"/>
      </c:valAx>
      <c:spPr>
        <a:solidFill>
          <a:schemeClr val="bg1"/>
        </a:solidFill>
        <a:ln w="25400">
          <a:noFill/>
        </a:ln>
      </c:spPr>
    </c:plotArea>
    <c:plotVisOnly val="1"/>
    <c:dispBlanksAs val="gap"/>
    <c:showDLblsOverMax val="0"/>
  </c:chart>
  <c:spPr>
    <a:noFill/>
    <a:ln w="9525" cap="flat" cmpd="sng" algn="ctr">
      <a:solidFill>
        <a:schemeClr val="tx1"/>
      </a:solid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[Amazon Sales Records.xls]Sheet1!PivotTable1</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400" b="1" dirty="0">
                <a:solidFill>
                  <a:schemeClr val="tx1"/>
                </a:solidFill>
                <a:latin typeface="Cambria Math" panose="02040503050406030204" pitchFamily="18" charset="0"/>
                <a:ea typeface="Cambria Math" panose="02040503050406030204" pitchFamily="18" charset="0"/>
              </a:rPr>
              <a:t>Sales</a:t>
            </a:r>
            <a:r>
              <a:rPr lang="en-US" sz="2400" b="1" baseline="0" dirty="0">
                <a:solidFill>
                  <a:schemeClr val="tx1"/>
                </a:solidFill>
                <a:latin typeface="Cambria Math" panose="02040503050406030204" pitchFamily="18" charset="0"/>
                <a:ea typeface="Cambria Math" panose="02040503050406030204" pitchFamily="18" charset="0"/>
              </a:rPr>
              <a:t> Trend</a:t>
            </a:r>
            <a:endParaRPr lang="en-IN" sz="2400" b="1" dirty="0">
              <a:solidFill>
                <a:schemeClr val="tx1"/>
              </a:solidFill>
              <a:latin typeface="Cambria Math" panose="02040503050406030204" pitchFamily="18" charset="0"/>
              <a:ea typeface="Cambria Math" panose="020405030504060302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8443897637795273E-2"/>
          <c:y val="1.5809973878850948E-2"/>
          <c:w val="0.9411857516435338"/>
          <c:h val="0.86282620880157002"/>
        </c:manualLayout>
      </c:layout>
      <c:lineChart>
        <c:grouping val="standard"/>
        <c:varyColors val="0"/>
        <c:ser>
          <c:idx val="0"/>
          <c:order val="0"/>
          <c:tx>
            <c:strRef>
              <c:f>Sheet1!$C$1:$C$2</c:f>
              <c:strCache>
                <c:ptCount val="1"/>
                <c:pt idx="0">
                  <c:v>Total</c:v>
                </c:pt>
              </c:strCache>
            </c:strRef>
          </c:tx>
          <c:spPr>
            <a:ln w="28575" cap="rnd">
              <a:solidFill>
                <a:srgbClr val="002060"/>
              </a:solidFill>
              <a:round/>
            </a:ln>
            <a:effectLst/>
          </c:spPr>
          <c:marker>
            <c:symbol val="circle"/>
            <c:size val="5"/>
            <c:spPr>
              <a:solidFill>
                <a:srgbClr val="002060"/>
              </a:solidFill>
              <a:ln w="9525">
                <a:solidFill>
                  <a:srgbClr val="002060"/>
                </a:solidFill>
              </a:ln>
              <a:effectLst/>
            </c:spPr>
          </c:marker>
          <c:cat>
            <c:multiLvlStrRef>
              <c:f>Sheet1!$A$3:$B$71</c:f>
              <c:multiLvlStrCache>
                <c:ptCount val="60"/>
                <c:lvl>
                  <c:pt idx="0">
                    <c:v>Feb</c:v>
                  </c:pt>
                  <c:pt idx="1">
                    <c:v>May</c:v>
                  </c:pt>
                  <c:pt idx="2">
                    <c:v>Jun</c:v>
                  </c:pt>
                  <c:pt idx="3">
                    <c:v>Oct</c:v>
                  </c:pt>
                  <c:pt idx="4">
                    <c:v>Nov</c:v>
                  </c:pt>
                  <c:pt idx="5">
                    <c:v>Dec</c:v>
                  </c:pt>
                  <c:pt idx="6">
                    <c:v>Jan</c:v>
                  </c:pt>
                  <c:pt idx="7">
                    <c:v>Feb</c:v>
                  </c:pt>
                  <c:pt idx="8">
                    <c:v>Apr</c:v>
                  </c:pt>
                  <c:pt idx="9">
                    <c:v>May</c:v>
                  </c:pt>
                  <c:pt idx="10">
                    <c:v>Jun</c:v>
                  </c:pt>
                  <c:pt idx="11">
                    <c:v>Jul</c:v>
                  </c:pt>
                  <c:pt idx="12">
                    <c:v>Sep</c:v>
                  </c:pt>
                  <c:pt idx="13">
                    <c:v>Nov</c:v>
                  </c:pt>
                  <c:pt idx="14">
                    <c:v>Jan</c:v>
                  </c:pt>
                  <c:pt idx="15">
                    <c:v>Feb</c:v>
                  </c:pt>
                  <c:pt idx="16">
                    <c:v>Mar</c:v>
                  </c:pt>
                  <c:pt idx="17">
                    <c:v>Apr</c:v>
                  </c:pt>
                  <c:pt idx="18">
                    <c:v>May</c:v>
                  </c:pt>
                  <c:pt idx="19">
                    <c:v>Jun</c:v>
                  </c:pt>
                  <c:pt idx="20">
                    <c:v>Jul</c:v>
                  </c:pt>
                  <c:pt idx="21">
                    <c:v>Aug</c:v>
                  </c:pt>
                  <c:pt idx="22">
                    <c:v>Sep</c:v>
                  </c:pt>
                  <c:pt idx="23">
                    <c:v>Oct</c:v>
                  </c:pt>
                  <c:pt idx="24">
                    <c:v>Feb</c:v>
                  </c:pt>
                  <c:pt idx="25">
                    <c:v>Mar</c:v>
                  </c:pt>
                  <c:pt idx="26">
                    <c:v>Apr</c:v>
                  </c:pt>
                  <c:pt idx="27">
                    <c:v>Jun</c:v>
                  </c:pt>
                  <c:pt idx="28">
                    <c:v>Jul</c:v>
                  </c:pt>
                  <c:pt idx="29">
                    <c:v>Aug</c:v>
                  </c:pt>
                  <c:pt idx="30">
                    <c:v>Sep</c:v>
                  </c:pt>
                  <c:pt idx="31">
                    <c:v>Oct</c:v>
                  </c:pt>
                  <c:pt idx="32">
                    <c:v>Dec</c:v>
                  </c:pt>
                  <c:pt idx="33">
                    <c:v>Feb</c:v>
                  </c:pt>
                  <c:pt idx="34">
                    <c:v>Apr</c:v>
                  </c:pt>
                  <c:pt idx="35">
                    <c:v>May</c:v>
                  </c:pt>
                  <c:pt idx="36">
                    <c:v>Jun</c:v>
                  </c:pt>
                  <c:pt idx="37">
                    <c:v>Jul</c:v>
                  </c:pt>
                  <c:pt idx="38">
                    <c:v>Aug</c:v>
                  </c:pt>
                  <c:pt idx="39">
                    <c:v>Sep</c:v>
                  </c:pt>
                  <c:pt idx="40">
                    <c:v>Oct</c:v>
                  </c:pt>
                  <c:pt idx="41">
                    <c:v>Nov</c:v>
                  </c:pt>
                  <c:pt idx="42">
                    <c:v>Jan</c:v>
                  </c:pt>
                  <c:pt idx="43">
                    <c:v>Feb</c:v>
                  </c:pt>
                  <c:pt idx="44">
                    <c:v>Apr</c:v>
                  </c:pt>
                  <c:pt idx="45">
                    <c:v>Jul</c:v>
                  </c:pt>
                  <c:pt idx="46">
                    <c:v>Aug</c:v>
                  </c:pt>
                  <c:pt idx="47">
                    <c:v>Oct</c:v>
                  </c:pt>
                  <c:pt idx="48">
                    <c:v>Nov</c:v>
                  </c:pt>
                  <c:pt idx="49">
                    <c:v>Mar</c:v>
                  </c:pt>
                  <c:pt idx="50">
                    <c:v>May</c:v>
                  </c:pt>
                  <c:pt idx="51">
                    <c:v>Jun</c:v>
                  </c:pt>
                  <c:pt idx="52">
                    <c:v>Jul</c:v>
                  </c:pt>
                  <c:pt idx="53">
                    <c:v>Oct</c:v>
                  </c:pt>
                  <c:pt idx="54">
                    <c:v>Nov</c:v>
                  </c:pt>
                  <c:pt idx="55">
                    <c:v>Dec</c:v>
                  </c:pt>
                  <c:pt idx="56">
                    <c:v>Jan</c:v>
                  </c:pt>
                  <c:pt idx="57">
                    <c:v>Feb</c:v>
                  </c:pt>
                  <c:pt idx="58">
                    <c:v>Mar</c:v>
                  </c:pt>
                  <c:pt idx="59">
                    <c:v>May</c:v>
                  </c:pt>
                </c:lvl>
                <c:lvl>
                  <c:pt idx="0">
                    <c:v>2010</c:v>
                  </c:pt>
                  <c:pt idx="6">
                    <c:v>2011</c:v>
                  </c:pt>
                  <c:pt idx="14">
                    <c:v>2012</c:v>
                  </c:pt>
                  <c:pt idx="24">
                    <c:v>2013</c:v>
                  </c:pt>
                  <c:pt idx="33">
                    <c:v>2014</c:v>
                  </c:pt>
                  <c:pt idx="42">
                    <c:v>2015</c:v>
                  </c:pt>
                  <c:pt idx="49">
                    <c:v>2016</c:v>
                  </c:pt>
                  <c:pt idx="56">
                    <c:v>2017</c:v>
                  </c:pt>
                </c:lvl>
              </c:multiLvlStrCache>
            </c:multiLvlStrRef>
          </c:cat>
          <c:val>
            <c:numRef>
              <c:f>Sheet1!$C$3:$C$71</c:f>
              <c:numCache>
                <c:formatCode>General</c:formatCode>
                <c:ptCount val="60"/>
                <c:pt idx="0">
                  <c:v>9503</c:v>
                </c:pt>
                <c:pt idx="1">
                  <c:v>15747</c:v>
                </c:pt>
                <c:pt idx="2">
                  <c:v>9905</c:v>
                </c:pt>
                <c:pt idx="3">
                  <c:v>14403</c:v>
                </c:pt>
                <c:pt idx="4">
                  <c:v>7910</c:v>
                </c:pt>
                <c:pt idx="5">
                  <c:v>4103</c:v>
                </c:pt>
                <c:pt idx="6">
                  <c:v>12914</c:v>
                </c:pt>
                <c:pt idx="7">
                  <c:v>8156</c:v>
                </c:pt>
                <c:pt idx="8">
                  <c:v>4187</c:v>
                </c:pt>
                <c:pt idx="9">
                  <c:v>5741</c:v>
                </c:pt>
                <c:pt idx="10">
                  <c:v>124</c:v>
                </c:pt>
                <c:pt idx="11">
                  <c:v>888</c:v>
                </c:pt>
                <c:pt idx="12">
                  <c:v>3732</c:v>
                </c:pt>
                <c:pt idx="13">
                  <c:v>19026</c:v>
                </c:pt>
                <c:pt idx="14">
                  <c:v>1548</c:v>
                </c:pt>
                <c:pt idx="15">
                  <c:v>15776</c:v>
                </c:pt>
                <c:pt idx="16">
                  <c:v>6457</c:v>
                </c:pt>
                <c:pt idx="17">
                  <c:v>8903</c:v>
                </c:pt>
                <c:pt idx="18">
                  <c:v>10984</c:v>
                </c:pt>
                <c:pt idx="19">
                  <c:v>7620</c:v>
                </c:pt>
                <c:pt idx="20">
                  <c:v>22646</c:v>
                </c:pt>
                <c:pt idx="21">
                  <c:v>2804</c:v>
                </c:pt>
                <c:pt idx="22">
                  <c:v>16545</c:v>
                </c:pt>
                <c:pt idx="23">
                  <c:v>4684</c:v>
                </c:pt>
                <c:pt idx="24">
                  <c:v>5062</c:v>
                </c:pt>
                <c:pt idx="25">
                  <c:v>4063</c:v>
                </c:pt>
                <c:pt idx="26">
                  <c:v>5010</c:v>
                </c:pt>
                <c:pt idx="27">
                  <c:v>5432</c:v>
                </c:pt>
                <c:pt idx="28">
                  <c:v>19546</c:v>
                </c:pt>
                <c:pt idx="29">
                  <c:v>9606</c:v>
                </c:pt>
                <c:pt idx="30">
                  <c:v>7637</c:v>
                </c:pt>
                <c:pt idx="31">
                  <c:v>6182</c:v>
                </c:pt>
                <c:pt idx="32">
                  <c:v>2125</c:v>
                </c:pt>
                <c:pt idx="33">
                  <c:v>10460</c:v>
                </c:pt>
                <c:pt idx="34">
                  <c:v>13808</c:v>
                </c:pt>
                <c:pt idx="35">
                  <c:v>9229</c:v>
                </c:pt>
                <c:pt idx="36">
                  <c:v>8102</c:v>
                </c:pt>
                <c:pt idx="37">
                  <c:v>14513</c:v>
                </c:pt>
                <c:pt idx="38">
                  <c:v>4168</c:v>
                </c:pt>
                <c:pt idx="39">
                  <c:v>2187</c:v>
                </c:pt>
                <c:pt idx="40">
                  <c:v>22619</c:v>
                </c:pt>
                <c:pt idx="41">
                  <c:v>6954</c:v>
                </c:pt>
                <c:pt idx="42">
                  <c:v>8250</c:v>
                </c:pt>
                <c:pt idx="43">
                  <c:v>5821</c:v>
                </c:pt>
                <c:pt idx="44">
                  <c:v>12772</c:v>
                </c:pt>
                <c:pt idx="45">
                  <c:v>13110</c:v>
                </c:pt>
                <c:pt idx="46">
                  <c:v>673</c:v>
                </c:pt>
                <c:pt idx="47">
                  <c:v>2924</c:v>
                </c:pt>
                <c:pt idx="48">
                  <c:v>5930</c:v>
                </c:pt>
                <c:pt idx="49">
                  <c:v>962</c:v>
                </c:pt>
                <c:pt idx="50">
                  <c:v>5070</c:v>
                </c:pt>
                <c:pt idx="51">
                  <c:v>3710</c:v>
                </c:pt>
                <c:pt idx="52">
                  <c:v>5498</c:v>
                </c:pt>
                <c:pt idx="53">
                  <c:v>4660</c:v>
                </c:pt>
                <c:pt idx="54">
                  <c:v>13441</c:v>
                </c:pt>
                <c:pt idx="55">
                  <c:v>9815</c:v>
                </c:pt>
                <c:pt idx="56">
                  <c:v>13030</c:v>
                </c:pt>
                <c:pt idx="57">
                  <c:v>16301</c:v>
                </c:pt>
                <c:pt idx="58">
                  <c:v>3015</c:v>
                </c:pt>
                <c:pt idx="59">
                  <c:v>16880</c:v>
                </c:pt>
              </c:numCache>
            </c:numRef>
          </c:val>
          <c:smooth val="0"/>
          <c:extLst>
            <c:ext xmlns:c16="http://schemas.microsoft.com/office/drawing/2014/chart" uri="{C3380CC4-5D6E-409C-BE32-E72D297353CC}">
              <c16:uniqueId val="{00000000-D808-46E1-8E30-814089431600}"/>
            </c:ext>
          </c:extLst>
        </c:ser>
        <c:dLbls>
          <c:showLegendKey val="0"/>
          <c:showVal val="0"/>
          <c:showCatName val="0"/>
          <c:showSerName val="0"/>
          <c:showPercent val="0"/>
          <c:showBubbleSize val="0"/>
        </c:dLbls>
        <c:marker val="1"/>
        <c:smooth val="0"/>
        <c:axId val="1009355823"/>
        <c:axId val="918457055"/>
      </c:lineChart>
      <c:catAx>
        <c:axId val="1009355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918457055"/>
        <c:crosses val="autoZero"/>
        <c:auto val="1"/>
        <c:lblAlgn val="ctr"/>
        <c:lblOffset val="100"/>
        <c:noMultiLvlLbl val="0"/>
      </c:catAx>
      <c:valAx>
        <c:axId val="9184570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009355823"/>
        <c:crosses val="autoZero"/>
        <c:crossBetween val="between"/>
      </c:valAx>
      <c:spPr>
        <a:solidFill>
          <a:schemeClr val="bg2"/>
        </a:solidFill>
        <a:ln w="22225">
          <a:solidFill>
            <a:schemeClr val="bg2"/>
          </a:solidFill>
        </a:ln>
        <a:effectLst>
          <a:innerShdw blurRad="114300">
            <a:prstClr val="black"/>
          </a:innerShdw>
        </a:effectLst>
        <a:scene3d>
          <a:camera prst="orthographicFront"/>
          <a:lightRig rig="brightRoom" dir="t">
            <a:rot lat="0" lon="0" rev="600000"/>
          </a:lightRig>
        </a:scene3d>
        <a:sp3d prstMaterial="metal">
          <a:bevelT w="38100" h="57150" prst="angle"/>
        </a:sp3d>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[Amazon Sales Records.xls]Sheet2!PivotTable2</c:name>
    <c:fmtId val="3"/>
  </c:pivotSource>
  <c:chart>
    <c:autoTitleDeleted val="1"/>
    <c:pivotFmts>
      <c:pivotFmt>
        <c:idx val="0"/>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4"/>
          </a:solidFill>
          <a:ln>
            <a:noFill/>
          </a:ln>
          <a:effectLst/>
          <a:scene3d>
            <a:camera prst="orthographicFront">
              <a:rot lat="0" lon="0" rev="0"/>
            </a:camera>
            <a:lightRig rig="threePt" dir="tl"/>
          </a:scene3d>
          <a:sp3d prstMaterial="plastic">
            <a:bevelT w="0" h="0"/>
          </a:sp3d>
        </c:spPr>
        <c:dLbl>
          <c:idx val="0"/>
          <c:layout>
            <c:manualLayout>
              <c:x val="1.625479238530603E-3"/>
              <c:y val="2.1961969371597147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Europe</a:t>
                </a:r>
              </a:p>
              <a:p>
                <a:pPr>
                  <a:defRPr lang="en-US" sz="1000" b="0" i="0" u="none" strike="noStrike" kern="1200" baseline="0">
                    <a:solidFill>
                      <a:schemeClr val="tx1"/>
                    </a:solidFill>
                    <a:latin typeface="+mn-lt"/>
                    <a:ea typeface="+mn-ea"/>
                    <a:cs typeface="+mn-cs"/>
                  </a:defRPr>
                </a:pPr>
                <a:r>
                  <a:rPr lang="en-US"/>
                  <a:t>24.3%</a:t>
                </a:r>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5646906486888871"/>
                  <c:h val="0.11434242207327389"/>
                </c:manualLayout>
              </c15:layout>
              <c15:showDataLabelsRange val="0"/>
            </c:ext>
          </c:extLst>
        </c:dLbl>
      </c:pivotFmt>
      <c:pivotFmt>
        <c:idx val="4"/>
        <c:spPr>
          <a:solidFill>
            <a:schemeClr val="accent1"/>
          </a:solidFill>
          <a:ln>
            <a:noFill/>
          </a:ln>
          <a:effectLst/>
          <a:scene3d>
            <a:camera prst="orthographicFront">
              <a:rot lat="0" lon="0" rev="0"/>
            </a:camera>
            <a:lightRig rig="threePt" dir="tl"/>
          </a:scene3d>
          <a:sp3d prstMaterial="plastic">
            <a:bevelT w="0" h="0"/>
          </a:sp3d>
        </c:spPr>
        <c:dLbl>
          <c:idx val="0"/>
          <c:layout>
            <c:manualLayout>
              <c:x val="7.9225599463182861E-2"/>
              <c:y val="-0.10208129975488602"/>
            </c:manualLayout>
          </c:layout>
          <c:tx>
            <c:rich>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r>
                  <a:rPr lang="en-US"/>
                  <a:t>Asia</a:t>
                </a:r>
              </a:p>
              <a:p>
                <a:pPr>
                  <a:defRPr lang="en-US" sz="1000" b="0" i="0" u="none" strike="noStrike" kern="1200" baseline="0">
                    <a:solidFill>
                      <a:schemeClr val="tx1"/>
                    </a:solidFill>
                    <a:latin typeface="+mn-lt"/>
                    <a:ea typeface="+mn-ea"/>
                    <a:cs typeface="+mn-cs"/>
                  </a:defRPr>
                </a:pPr>
                <a:r>
                  <a:rPr lang="en-US"/>
                  <a:t>15.54%</a:t>
                </a:r>
              </a:p>
            </c:rich>
          </c:tx>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0642485434993063"/>
                  <c:h val="9.4387052341597791E-2"/>
                </c:manualLayout>
              </c15:layout>
              <c15:showDataLabelsRange val="0"/>
            </c:ext>
          </c:extLst>
        </c:dLbl>
      </c:pivotFmt>
      <c:pivotFmt>
        <c:idx val="5"/>
        <c:spPr>
          <a:solidFill>
            <a:schemeClr val="accent2"/>
          </a:solidFill>
          <a:ln>
            <a:noFill/>
          </a:ln>
          <a:effectLst/>
          <a:scene3d>
            <a:camera prst="orthographicFront">
              <a:rot lat="0" lon="0" rev="0"/>
            </a:camera>
            <a:lightRig rig="threePt" dir="tl"/>
          </a:scene3d>
          <a:sp3d prstMaterial="plastic">
            <a:bevelT w="0" h="0"/>
          </a:sp3d>
        </c:spPr>
        <c:dLbl>
          <c:idx val="0"/>
          <c:layout>
            <c:manualLayout>
              <c:x val="0.14214046822742477"/>
              <c:y val="-9.2592592592592587E-3"/>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Australia and Oceania</a:t>
                </a:r>
              </a:p>
              <a:p>
                <a:pPr>
                  <a:defRPr lang="en-US" sz="1000" b="0" i="0" u="none" strike="noStrike" kern="1200" baseline="0">
                    <a:solidFill>
                      <a:schemeClr val="tx1"/>
                    </a:solidFill>
                    <a:latin typeface="+mn-lt"/>
                    <a:ea typeface="+mn-ea"/>
                    <a:cs typeface="+mn-cs"/>
                  </a:defRPr>
                </a:pPr>
                <a:r>
                  <a:rPr lang="en-US"/>
                  <a:t>10.26%</a:t>
                </a:r>
              </a:p>
              <a:p>
                <a:pPr>
                  <a:defRPr lang="en-US" sz="1000" b="0" i="0" u="none" strike="noStrike" kern="1200" baseline="0">
                    <a:solidFill>
                      <a:schemeClr val="tx1"/>
                    </a:solidFill>
                    <a:latin typeface="+mn-lt"/>
                    <a:ea typeface="+mn-ea"/>
                    <a:cs typeface="+mn-cs"/>
                  </a:defRPr>
                </a:pP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1637413425328526"/>
                  <c:h val="0.17046296296296296"/>
                </c:manualLayout>
              </c15:layout>
              <c15:showDataLabelsRange val="0"/>
            </c:ext>
          </c:extLst>
        </c:dLbl>
      </c:pivotFmt>
      <c:pivotFmt>
        <c:idx val="6"/>
        <c:spPr>
          <a:solidFill>
            <a:schemeClr val="accent3"/>
          </a:solidFill>
          <a:ln>
            <a:noFill/>
          </a:ln>
          <a:effectLst/>
          <a:scene3d>
            <a:camera prst="orthographicFront">
              <a:rot lat="0" lon="0" rev="0"/>
            </a:camera>
            <a:lightRig rig="threePt" dir="tl"/>
          </a:scene3d>
          <a:sp3d prstMaterial="plastic">
            <a:bevelT w="0" h="0"/>
          </a:sp3d>
        </c:spPr>
        <c:dLbl>
          <c:idx val="0"/>
          <c:layout>
            <c:manualLayout>
              <c:x val="0.14024065344674724"/>
              <c:y val="1.1574074074074073E-2"/>
            </c:manualLayout>
          </c:layout>
          <c:tx>
            <c:rich>
              <a:bodyPr rot="0" spcFirstLastPara="1" vertOverflow="ellipsis" vert="horz" wrap="square" lIns="38100" tIns="19050" rIns="38100" bIns="19050" anchor="ctr" anchorCtr="0">
                <a:noAutofit/>
              </a:bodyPr>
              <a:lstStyle/>
              <a:p>
                <a:pPr algn="ctr">
                  <a:defRPr lang="en-US" sz="1000" b="0" i="0" u="none" strike="noStrike" kern="1200" baseline="0">
                    <a:solidFill>
                      <a:schemeClr val="tx1"/>
                    </a:solidFill>
                    <a:latin typeface="+mn-lt"/>
                    <a:ea typeface="+mn-ea"/>
                    <a:cs typeface="+mn-cs"/>
                  </a:defRPr>
                </a:pPr>
                <a:r>
                  <a:rPr lang="en-US"/>
                  <a:t>Central</a:t>
                </a:r>
                <a:r>
                  <a:rPr lang="en-US" baseline="0"/>
                  <a:t> America &amp; the Caribbean</a:t>
                </a:r>
              </a:p>
              <a:p>
                <a:pPr algn="ctr">
                  <a:defRPr lang="en-US" sz="1000" b="0" i="0" u="none" strike="noStrike" kern="1200" baseline="0">
                    <a:solidFill>
                      <a:schemeClr val="tx1"/>
                    </a:solidFill>
                    <a:latin typeface="+mn-lt"/>
                    <a:ea typeface="+mn-ea"/>
                    <a:cs typeface="+mn-cs"/>
                  </a:defRPr>
                </a:pPr>
                <a:r>
                  <a:rPr lang="en-US" baseline="0"/>
                  <a:t>6.68%</a:t>
                </a:r>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8219524398915017"/>
                  <c:h val="0.20465296004666084"/>
                </c:manualLayout>
              </c15:layout>
              <c15:showDataLabelsRange val="0"/>
            </c:ext>
          </c:extLst>
        </c:dLbl>
      </c:pivotFmt>
      <c:pivotFmt>
        <c:idx val="7"/>
        <c:spPr>
          <a:solidFill>
            <a:schemeClr val="accent5"/>
          </a:solidFill>
          <a:ln>
            <a:noFill/>
          </a:ln>
          <a:effectLst/>
          <a:scene3d>
            <a:camera prst="orthographicFront">
              <a:rot lat="0" lon="0" rev="0"/>
            </a:camera>
            <a:lightRig rig="threePt" dir="tl"/>
          </a:scene3d>
          <a:sp3d prstMaterial="plastic">
            <a:bevelT w="0" h="0"/>
          </a:sp3d>
        </c:spPr>
        <c:dLbl>
          <c:idx val="0"/>
          <c:layout>
            <c:manualLayout>
              <c:x val="-0.11762086247208446"/>
              <c:y val="7.0592150929480929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Middle</a:t>
                </a:r>
                <a:r>
                  <a:rPr lang="en-US" baseline="0"/>
                  <a:t> East &amp; North Africa</a:t>
                </a:r>
              </a:p>
              <a:p>
                <a:pPr>
                  <a:defRPr lang="en-US" sz="1000" b="0" i="0" u="none" strike="noStrike" kern="1200" baseline="0">
                    <a:solidFill>
                      <a:schemeClr val="tx1"/>
                    </a:solidFill>
                    <a:latin typeface="+mn-lt"/>
                    <a:ea typeface="+mn-ea"/>
                    <a:cs typeface="+mn-cs"/>
                  </a:defRPr>
                </a:pPr>
                <a:r>
                  <a:rPr lang="en-US" baseline="0"/>
                  <a:t>10.23%</a:t>
                </a: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3192401382583497"/>
                  <c:h val="0.12467300058567056"/>
                </c:manualLayout>
              </c15:layout>
              <c15:showDataLabelsRange val="0"/>
            </c:ext>
          </c:extLst>
        </c:dLbl>
      </c:pivotFmt>
      <c:pivotFmt>
        <c:idx val="8"/>
        <c:spPr>
          <a:solidFill>
            <a:schemeClr val="accent6"/>
          </a:solidFill>
          <a:ln>
            <a:noFill/>
          </a:ln>
          <a:effectLst/>
          <a:scene3d>
            <a:camera prst="orthographicFront">
              <a:rot lat="0" lon="0" rev="0"/>
            </a:camera>
            <a:lightRig rig="threePt" dir="tl"/>
          </a:scene3d>
          <a:sp3d prstMaterial="plastic">
            <a:bevelT w="0" h="0"/>
          </a:sp3d>
        </c:spPr>
        <c:dLbl>
          <c:idx val="0"/>
          <c:layout>
            <c:manualLayout>
              <c:x val="-0.10208610741233913"/>
              <c:y val="4.5118869438840803E-2"/>
            </c:manualLayout>
          </c:layout>
          <c:tx>
            <c:rich>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r>
                  <a:rPr lang="en-US"/>
                  <a:t>North</a:t>
                </a:r>
                <a:r>
                  <a:rPr lang="en-US" baseline="0"/>
                  <a:t> America</a:t>
                </a:r>
              </a:p>
              <a:p>
                <a:pPr>
                  <a:defRPr lang="en-US" sz="1000" b="0" i="0" u="none" strike="noStrike" kern="1200" baseline="0">
                    <a:solidFill>
                      <a:schemeClr val="tx1"/>
                    </a:solidFill>
                    <a:latin typeface="+mn-lt"/>
                    <a:ea typeface="+mn-ea"/>
                    <a:cs typeface="+mn-cs"/>
                  </a:defRPr>
                </a:pPr>
                <a:r>
                  <a:rPr lang="en-US" baseline="0"/>
                  <a:t>4.11%</a:t>
                </a:r>
                <a:endParaRPr lang="en-US"/>
              </a:p>
            </c:rich>
          </c:tx>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9"/>
        <c:spPr>
          <a:solidFill>
            <a:schemeClr val="accent1">
              <a:lumMod val="60000"/>
            </a:schemeClr>
          </a:solidFill>
          <a:ln>
            <a:noFill/>
          </a:ln>
          <a:effectLst/>
          <a:scene3d>
            <a:camera prst="orthographicFront">
              <a:rot lat="0" lon="0" rev="0"/>
            </a:camera>
            <a:lightRig rig="threePt" dir="tl"/>
          </a:scene3d>
          <a:sp3d prstMaterial="plastic">
            <a:bevelT w="0" h="0"/>
          </a:sp3d>
        </c:spPr>
        <c:dLbl>
          <c:idx val="0"/>
          <c:layout>
            <c:manualLayout>
              <c:x val="-0.11429214241029459"/>
              <c:y val="-2.3751518405240667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Sub-Saharan</a:t>
                </a:r>
                <a:r>
                  <a:rPr lang="en-US" baseline="0"/>
                  <a:t> Africa</a:t>
                </a:r>
              </a:p>
              <a:p>
                <a:pPr>
                  <a:defRPr lang="en-US" sz="1000" b="0" i="0" u="none" strike="noStrike" kern="1200" baseline="0">
                    <a:solidFill>
                      <a:schemeClr val="tx1"/>
                    </a:solidFill>
                    <a:latin typeface="+mn-lt"/>
                    <a:ea typeface="+mn-ea"/>
                    <a:cs typeface="+mn-cs"/>
                  </a:defRPr>
                </a:pPr>
                <a:r>
                  <a:rPr lang="en-US" baseline="0"/>
                  <a:t>28.88%</a:t>
                </a: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1517976031957384"/>
                  <c:h val="0.17014462809917352"/>
                </c:manualLayout>
              </c15:layout>
              <c15:showDataLabelsRange val="0"/>
            </c:ext>
          </c:extLst>
        </c:dLbl>
      </c:pivotFmt>
      <c:pivotFmt>
        <c:idx val="10"/>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a:scene3d>
            <a:camera prst="orthographicFront">
              <a:rot lat="0" lon="0" rev="0"/>
            </a:camera>
            <a:lightRig rig="threePt" dir="tl"/>
          </a:scene3d>
          <a:sp3d prstMaterial="plastic">
            <a:bevelT w="0" h="0"/>
          </a:sp3d>
        </c:spPr>
        <c:dLbl>
          <c:idx val="0"/>
          <c:layout>
            <c:manualLayout>
              <c:x val="7.9225599463182861E-2"/>
              <c:y val="-0.10208129975488602"/>
            </c:manualLayout>
          </c:layout>
          <c:tx>
            <c:rich>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r>
                  <a:rPr lang="en-US"/>
                  <a:t>Asia</a:t>
                </a:r>
              </a:p>
              <a:p>
                <a:pPr>
                  <a:defRPr lang="en-US" sz="1000" b="0" i="0" u="none" strike="noStrike" kern="1200" baseline="0">
                    <a:solidFill>
                      <a:schemeClr val="tx1"/>
                    </a:solidFill>
                    <a:latin typeface="+mn-lt"/>
                    <a:ea typeface="+mn-ea"/>
                    <a:cs typeface="+mn-cs"/>
                  </a:defRPr>
                </a:pPr>
                <a:r>
                  <a:rPr lang="en-US"/>
                  <a:t>15.54%</a:t>
                </a:r>
              </a:p>
            </c:rich>
          </c:tx>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0642485434993063"/>
                  <c:h val="9.4387052341597791E-2"/>
                </c:manualLayout>
              </c15:layout>
              <c15:showDataLabelsRange val="0"/>
            </c:ext>
          </c:extLst>
        </c:dLbl>
      </c:pivotFmt>
      <c:pivotFmt>
        <c:idx val="12"/>
        <c:spPr>
          <a:solidFill>
            <a:schemeClr val="accent1"/>
          </a:solidFill>
          <a:ln>
            <a:noFill/>
          </a:ln>
          <a:effectLst/>
          <a:scene3d>
            <a:camera prst="orthographicFront">
              <a:rot lat="0" lon="0" rev="0"/>
            </a:camera>
            <a:lightRig rig="threePt" dir="tl"/>
          </a:scene3d>
          <a:sp3d prstMaterial="plastic">
            <a:bevelT w="0" h="0"/>
          </a:sp3d>
        </c:spPr>
        <c:dLbl>
          <c:idx val="0"/>
          <c:layout>
            <c:manualLayout>
              <c:x val="0.14214046822742477"/>
              <c:y val="-9.2592592592592587E-3"/>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Australia and Oceania</a:t>
                </a:r>
              </a:p>
              <a:p>
                <a:pPr>
                  <a:defRPr lang="en-US" sz="1000" b="0" i="0" u="none" strike="noStrike" kern="1200" baseline="0">
                    <a:solidFill>
                      <a:schemeClr val="tx1"/>
                    </a:solidFill>
                    <a:latin typeface="+mn-lt"/>
                    <a:ea typeface="+mn-ea"/>
                    <a:cs typeface="+mn-cs"/>
                  </a:defRPr>
                </a:pPr>
                <a:r>
                  <a:rPr lang="en-US"/>
                  <a:t>10.26%</a:t>
                </a:r>
              </a:p>
              <a:p>
                <a:pPr>
                  <a:defRPr lang="en-US" sz="1000" b="0" i="0" u="none" strike="noStrike" kern="1200" baseline="0">
                    <a:solidFill>
                      <a:schemeClr val="tx1"/>
                    </a:solidFill>
                    <a:latin typeface="+mn-lt"/>
                    <a:ea typeface="+mn-ea"/>
                    <a:cs typeface="+mn-cs"/>
                  </a:defRPr>
                </a:pP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1637413425328526"/>
                  <c:h val="0.17046296296296296"/>
                </c:manualLayout>
              </c15:layout>
              <c15:showDataLabelsRange val="0"/>
            </c:ext>
          </c:extLst>
        </c:dLbl>
      </c:pivotFmt>
      <c:pivotFmt>
        <c:idx val="13"/>
        <c:spPr>
          <a:solidFill>
            <a:schemeClr val="accent1"/>
          </a:solidFill>
          <a:ln>
            <a:noFill/>
          </a:ln>
          <a:effectLst/>
          <a:scene3d>
            <a:camera prst="orthographicFront">
              <a:rot lat="0" lon="0" rev="0"/>
            </a:camera>
            <a:lightRig rig="threePt" dir="tl"/>
          </a:scene3d>
          <a:sp3d prstMaterial="plastic">
            <a:bevelT w="0" h="0"/>
          </a:sp3d>
        </c:spPr>
        <c:dLbl>
          <c:idx val="0"/>
          <c:layout>
            <c:manualLayout>
              <c:x val="0.14024065344674724"/>
              <c:y val="1.1574074074074073E-2"/>
            </c:manualLayout>
          </c:layout>
          <c:tx>
            <c:rich>
              <a:bodyPr rot="0" spcFirstLastPara="1" vertOverflow="ellipsis" vert="horz" wrap="square" lIns="38100" tIns="19050" rIns="38100" bIns="19050" anchor="ctr" anchorCtr="0">
                <a:noAutofit/>
              </a:bodyPr>
              <a:lstStyle/>
              <a:p>
                <a:pPr algn="ctr">
                  <a:defRPr lang="en-US" sz="1000" b="0" i="0" u="none" strike="noStrike" kern="1200" baseline="0">
                    <a:solidFill>
                      <a:schemeClr val="tx1"/>
                    </a:solidFill>
                    <a:latin typeface="+mn-lt"/>
                    <a:ea typeface="+mn-ea"/>
                    <a:cs typeface="+mn-cs"/>
                  </a:defRPr>
                </a:pPr>
                <a:r>
                  <a:rPr lang="en-US"/>
                  <a:t>Central</a:t>
                </a:r>
                <a:r>
                  <a:rPr lang="en-US" baseline="0"/>
                  <a:t> America &amp; the Caribbean</a:t>
                </a:r>
              </a:p>
              <a:p>
                <a:pPr algn="ctr">
                  <a:defRPr lang="en-US" sz="1000" b="0" i="0" u="none" strike="noStrike" kern="1200" baseline="0">
                    <a:solidFill>
                      <a:schemeClr val="tx1"/>
                    </a:solidFill>
                    <a:latin typeface="+mn-lt"/>
                    <a:ea typeface="+mn-ea"/>
                    <a:cs typeface="+mn-cs"/>
                  </a:defRPr>
                </a:pPr>
                <a:r>
                  <a:rPr lang="en-US" baseline="0"/>
                  <a:t>6.68%</a:t>
                </a:r>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8219524398915017"/>
                  <c:h val="0.20465296004666084"/>
                </c:manualLayout>
              </c15:layout>
              <c15:showDataLabelsRange val="0"/>
            </c:ext>
          </c:extLst>
        </c:dLbl>
      </c:pivotFmt>
      <c:pivotFmt>
        <c:idx val="14"/>
        <c:spPr>
          <a:solidFill>
            <a:schemeClr val="accent1"/>
          </a:solidFill>
          <a:ln>
            <a:noFill/>
          </a:ln>
          <a:effectLst/>
          <a:scene3d>
            <a:camera prst="orthographicFront">
              <a:rot lat="0" lon="0" rev="0"/>
            </a:camera>
            <a:lightRig rig="threePt" dir="tl"/>
          </a:scene3d>
          <a:sp3d prstMaterial="plastic">
            <a:bevelT w="0" h="0"/>
          </a:sp3d>
        </c:spPr>
        <c:dLbl>
          <c:idx val="0"/>
          <c:layout>
            <c:manualLayout>
              <c:x val="1.625479238530603E-3"/>
              <c:y val="2.1961969371597147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Europe</a:t>
                </a:r>
              </a:p>
              <a:p>
                <a:pPr>
                  <a:defRPr lang="en-US" sz="1000" b="0" i="0" u="none" strike="noStrike" kern="1200" baseline="0">
                    <a:solidFill>
                      <a:schemeClr val="tx1"/>
                    </a:solidFill>
                    <a:latin typeface="+mn-lt"/>
                    <a:ea typeface="+mn-ea"/>
                    <a:cs typeface="+mn-cs"/>
                  </a:defRPr>
                </a:pPr>
                <a:r>
                  <a:rPr lang="en-US"/>
                  <a:t>24.3%</a:t>
                </a:r>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5646906486888871"/>
                  <c:h val="0.11434242207327389"/>
                </c:manualLayout>
              </c15:layout>
              <c15:showDataLabelsRange val="0"/>
            </c:ext>
          </c:extLst>
        </c:dLbl>
      </c:pivotFmt>
      <c:pivotFmt>
        <c:idx val="15"/>
        <c:spPr>
          <a:solidFill>
            <a:schemeClr val="accent1"/>
          </a:solidFill>
          <a:ln>
            <a:noFill/>
          </a:ln>
          <a:effectLst/>
          <a:scene3d>
            <a:camera prst="orthographicFront">
              <a:rot lat="0" lon="0" rev="0"/>
            </a:camera>
            <a:lightRig rig="threePt" dir="tl"/>
          </a:scene3d>
          <a:sp3d prstMaterial="plastic">
            <a:bevelT w="0" h="0"/>
          </a:sp3d>
        </c:spPr>
        <c:dLbl>
          <c:idx val="0"/>
          <c:layout>
            <c:manualLayout>
              <c:x val="-0.11762086247208446"/>
              <c:y val="7.0592150929480929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Middle</a:t>
                </a:r>
                <a:r>
                  <a:rPr lang="en-US" baseline="0"/>
                  <a:t> East &amp; North Africa</a:t>
                </a:r>
              </a:p>
              <a:p>
                <a:pPr>
                  <a:defRPr lang="en-US" sz="1000" b="0" i="0" u="none" strike="noStrike" kern="1200" baseline="0">
                    <a:solidFill>
                      <a:schemeClr val="tx1"/>
                    </a:solidFill>
                    <a:latin typeface="+mn-lt"/>
                    <a:ea typeface="+mn-ea"/>
                    <a:cs typeface="+mn-cs"/>
                  </a:defRPr>
                </a:pPr>
                <a:r>
                  <a:rPr lang="en-US" baseline="0"/>
                  <a:t>10.23%</a:t>
                </a: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3192401382583497"/>
                  <c:h val="0.12467300058567056"/>
                </c:manualLayout>
              </c15:layout>
              <c15:showDataLabelsRange val="0"/>
            </c:ext>
          </c:extLst>
        </c:dLbl>
      </c:pivotFmt>
      <c:pivotFmt>
        <c:idx val="16"/>
        <c:spPr>
          <a:solidFill>
            <a:schemeClr val="accent1"/>
          </a:solidFill>
          <a:ln>
            <a:noFill/>
          </a:ln>
          <a:effectLst/>
          <a:scene3d>
            <a:camera prst="orthographicFront">
              <a:rot lat="0" lon="0" rev="0"/>
            </a:camera>
            <a:lightRig rig="threePt" dir="tl"/>
          </a:scene3d>
          <a:sp3d prstMaterial="plastic">
            <a:bevelT w="0" h="0"/>
          </a:sp3d>
        </c:spPr>
        <c:dLbl>
          <c:idx val="0"/>
          <c:layout>
            <c:manualLayout>
              <c:x val="-0.10208610741233913"/>
              <c:y val="4.5118869438840803E-2"/>
            </c:manualLayout>
          </c:layout>
          <c:tx>
            <c:rich>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r>
                  <a:rPr lang="en-US"/>
                  <a:t>North</a:t>
                </a:r>
                <a:r>
                  <a:rPr lang="en-US" baseline="0"/>
                  <a:t> America</a:t>
                </a:r>
              </a:p>
              <a:p>
                <a:pPr>
                  <a:defRPr lang="en-US" sz="1000" b="0" i="0" u="none" strike="noStrike" kern="1200" baseline="0">
                    <a:solidFill>
                      <a:schemeClr val="tx1"/>
                    </a:solidFill>
                    <a:latin typeface="+mn-lt"/>
                    <a:ea typeface="+mn-ea"/>
                    <a:cs typeface="+mn-cs"/>
                  </a:defRPr>
                </a:pPr>
                <a:r>
                  <a:rPr lang="en-US" baseline="0"/>
                  <a:t>4.11%</a:t>
                </a:r>
                <a:endParaRPr lang="en-US"/>
              </a:p>
            </c:rich>
          </c:tx>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17"/>
        <c:spPr>
          <a:solidFill>
            <a:schemeClr val="accent1"/>
          </a:solidFill>
          <a:ln>
            <a:noFill/>
          </a:ln>
          <a:effectLst/>
          <a:scene3d>
            <a:camera prst="orthographicFront">
              <a:rot lat="0" lon="0" rev="0"/>
            </a:camera>
            <a:lightRig rig="threePt" dir="tl"/>
          </a:scene3d>
          <a:sp3d prstMaterial="plastic">
            <a:bevelT w="0" h="0"/>
          </a:sp3d>
        </c:spPr>
        <c:dLbl>
          <c:idx val="0"/>
          <c:layout>
            <c:manualLayout>
              <c:x val="-0.11429214241029459"/>
              <c:y val="-2.3751518405240667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Sub-Saharan</a:t>
                </a:r>
                <a:r>
                  <a:rPr lang="en-US" baseline="0"/>
                  <a:t> Africa</a:t>
                </a:r>
              </a:p>
              <a:p>
                <a:pPr>
                  <a:defRPr lang="en-US" sz="1000" b="0" i="0" u="none" strike="noStrike" kern="1200" baseline="0">
                    <a:solidFill>
                      <a:schemeClr val="tx1"/>
                    </a:solidFill>
                    <a:latin typeface="+mn-lt"/>
                    <a:ea typeface="+mn-ea"/>
                    <a:cs typeface="+mn-cs"/>
                  </a:defRPr>
                </a:pPr>
                <a:r>
                  <a:rPr lang="en-US" baseline="0"/>
                  <a:t>28.88%</a:t>
                </a: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1517976031957384"/>
                  <c:h val="0.17014462809917352"/>
                </c:manualLayout>
              </c15:layout>
              <c15:showDataLabelsRange val="0"/>
            </c:ext>
          </c:extLst>
        </c:dLbl>
      </c:pivotFmt>
      <c:pivotFmt>
        <c:idx val="18"/>
        <c:spPr>
          <a:solidFill>
            <a:schemeClr val="accent1"/>
          </a:solidFill>
          <a:ln>
            <a:noFill/>
          </a:ln>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a:scene3d>
            <a:camera prst="orthographicFront">
              <a:rot lat="0" lon="0" rev="0"/>
            </a:camera>
            <a:lightRig rig="threePt" dir="tl"/>
          </a:scene3d>
          <a:sp3d prstMaterial="plastic">
            <a:bevelT w="0" h="0"/>
          </a:sp3d>
        </c:spPr>
        <c:dLbl>
          <c:idx val="0"/>
          <c:layout>
            <c:manualLayout>
              <c:x val="7.9225599463182861E-2"/>
              <c:y val="-0.10208129975488602"/>
            </c:manualLayout>
          </c:layout>
          <c:tx>
            <c:rich>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r>
                  <a:rPr lang="en-US"/>
                  <a:t>Asia</a:t>
                </a:r>
              </a:p>
              <a:p>
                <a:pPr>
                  <a:defRPr lang="en-US" sz="1000" b="0" i="0" u="none" strike="noStrike" kern="1200" baseline="0">
                    <a:solidFill>
                      <a:schemeClr val="tx1"/>
                    </a:solidFill>
                    <a:latin typeface="+mn-lt"/>
                    <a:ea typeface="+mn-ea"/>
                    <a:cs typeface="+mn-cs"/>
                  </a:defRPr>
                </a:pPr>
                <a:r>
                  <a:rPr lang="en-US"/>
                  <a:t>15.54%</a:t>
                </a:r>
              </a:p>
            </c:rich>
          </c:tx>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0642485434993063"/>
                  <c:h val="9.4387052341597791E-2"/>
                </c:manualLayout>
              </c15:layout>
              <c15:showDataLabelsRange val="0"/>
            </c:ext>
          </c:extLst>
        </c:dLbl>
      </c:pivotFmt>
      <c:pivotFmt>
        <c:idx val="20"/>
        <c:spPr>
          <a:solidFill>
            <a:schemeClr val="accent1"/>
          </a:solidFill>
          <a:ln>
            <a:noFill/>
          </a:ln>
          <a:effectLst/>
          <a:scene3d>
            <a:camera prst="orthographicFront">
              <a:rot lat="0" lon="0" rev="0"/>
            </a:camera>
            <a:lightRig rig="threePt" dir="tl"/>
          </a:scene3d>
          <a:sp3d prstMaterial="plastic">
            <a:bevelT w="0" h="0"/>
          </a:sp3d>
        </c:spPr>
        <c:dLbl>
          <c:idx val="0"/>
          <c:layout>
            <c:manualLayout>
              <c:x val="0.14214046822742477"/>
              <c:y val="-9.2592592592592587E-3"/>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Australia and Oceania</a:t>
                </a:r>
              </a:p>
              <a:p>
                <a:pPr>
                  <a:defRPr lang="en-US" sz="1000" b="0" i="0" u="none" strike="noStrike" kern="1200" baseline="0">
                    <a:solidFill>
                      <a:schemeClr val="tx1"/>
                    </a:solidFill>
                    <a:latin typeface="+mn-lt"/>
                    <a:ea typeface="+mn-ea"/>
                    <a:cs typeface="+mn-cs"/>
                  </a:defRPr>
                </a:pPr>
                <a:r>
                  <a:rPr lang="en-US"/>
                  <a:t>10.26%</a:t>
                </a:r>
              </a:p>
              <a:p>
                <a:pPr>
                  <a:defRPr lang="en-US" sz="1000" b="0" i="0" u="none" strike="noStrike" kern="1200" baseline="0">
                    <a:solidFill>
                      <a:schemeClr val="tx1"/>
                    </a:solidFill>
                    <a:latin typeface="+mn-lt"/>
                    <a:ea typeface="+mn-ea"/>
                    <a:cs typeface="+mn-cs"/>
                  </a:defRPr>
                </a:pP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1637413425328526"/>
                  <c:h val="0.17046296296296296"/>
                </c:manualLayout>
              </c15:layout>
              <c15:showDataLabelsRange val="0"/>
            </c:ext>
          </c:extLst>
        </c:dLbl>
      </c:pivotFmt>
      <c:pivotFmt>
        <c:idx val="21"/>
        <c:spPr>
          <a:solidFill>
            <a:schemeClr val="accent1"/>
          </a:solidFill>
          <a:ln>
            <a:noFill/>
          </a:ln>
          <a:effectLst/>
          <a:scene3d>
            <a:camera prst="orthographicFront">
              <a:rot lat="0" lon="0" rev="0"/>
            </a:camera>
            <a:lightRig rig="threePt" dir="tl"/>
          </a:scene3d>
          <a:sp3d prstMaterial="plastic">
            <a:bevelT w="0" h="0"/>
          </a:sp3d>
        </c:spPr>
        <c:dLbl>
          <c:idx val="0"/>
          <c:layout>
            <c:manualLayout>
              <c:x val="0.14024065344674724"/>
              <c:y val="1.1574074074074073E-2"/>
            </c:manualLayout>
          </c:layout>
          <c:tx>
            <c:rich>
              <a:bodyPr rot="0" spcFirstLastPara="1" vertOverflow="ellipsis" vert="horz" wrap="square" lIns="38100" tIns="19050" rIns="38100" bIns="19050" anchor="ctr" anchorCtr="0">
                <a:noAutofit/>
              </a:bodyPr>
              <a:lstStyle/>
              <a:p>
                <a:pPr algn="ctr">
                  <a:defRPr lang="en-US" sz="1000" b="0" i="0" u="none" strike="noStrike" kern="1200" baseline="0">
                    <a:solidFill>
                      <a:schemeClr val="tx1"/>
                    </a:solidFill>
                    <a:latin typeface="+mn-lt"/>
                    <a:ea typeface="+mn-ea"/>
                    <a:cs typeface="+mn-cs"/>
                  </a:defRPr>
                </a:pPr>
                <a:r>
                  <a:rPr lang="en-US"/>
                  <a:t>Central</a:t>
                </a:r>
                <a:r>
                  <a:rPr lang="en-US" baseline="0"/>
                  <a:t> America &amp; the Caribbean</a:t>
                </a:r>
              </a:p>
              <a:p>
                <a:pPr algn="ctr">
                  <a:defRPr lang="en-US" sz="1000" b="0" i="0" u="none" strike="noStrike" kern="1200" baseline="0">
                    <a:solidFill>
                      <a:schemeClr val="tx1"/>
                    </a:solidFill>
                    <a:latin typeface="+mn-lt"/>
                    <a:ea typeface="+mn-ea"/>
                    <a:cs typeface="+mn-cs"/>
                  </a:defRPr>
                </a:pPr>
                <a:r>
                  <a:rPr lang="en-US" baseline="0"/>
                  <a:t>6.68%</a:t>
                </a:r>
                <a:endParaRPr lang="en-US"/>
              </a:p>
            </c:rich>
          </c:tx>
          <c:spPr>
            <a:noFill/>
            <a:ln>
              <a:noFill/>
            </a:ln>
            <a:effectLst/>
          </c:spPr>
          <c:txPr>
            <a:bodyPr rot="0" spcFirstLastPara="1" vertOverflow="ellipsis" vert="horz" wrap="square" lIns="38100" tIns="19050" rIns="38100" bIns="19050" anchor="ctr" anchorCtr="0">
              <a:noAutofit/>
            </a:bodyPr>
            <a:lstStyle/>
            <a:p>
              <a:pPr algn="ct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8219524398915017"/>
                  <c:h val="0.20465296004666084"/>
                </c:manualLayout>
              </c15:layout>
              <c15:showDataLabelsRange val="0"/>
            </c:ext>
          </c:extLst>
        </c:dLbl>
      </c:pivotFmt>
      <c:pivotFmt>
        <c:idx val="22"/>
        <c:spPr>
          <a:solidFill>
            <a:schemeClr val="accent1"/>
          </a:solidFill>
          <a:ln>
            <a:noFill/>
          </a:ln>
          <a:effectLst/>
          <a:scene3d>
            <a:camera prst="orthographicFront">
              <a:rot lat="0" lon="0" rev="0"/>
            </a:camera>
            <a:lightRig rig="threePt" dir="tl"/>
          </a:scene3d>
          <a:sp3d prstMaterial="plastic">
            <a:bevelT w="0" h="0"/>
          </a:sp3d>
        </c:spPr>
        <c:dLbl>
          <c:idx val="0"/>
          <c:layout>
            <c:manualLayout>
              <c:x val="1.625479238530603E-3"/>
              <c:y val="2.1961969371597147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Europe</a:t>
                </a:r>
              </a:p>
              <a:p>
                <a:pPr>
                  <a:defRPr lang="en-US" sz="1000" b="0" i="0" u="none" strike="noStrike" kern="1200" baseline="0">
                    <a:solidFill>
                      <a:schemeClr val="tx1"/>
                    </a:solidFill>
                    <a:latin typeface="+mn-lt"/>
                    <a:ea typeface="+mn-ea"/>
                    <a:cs typeface="+mn-cs"/>
                  </a:defRPr>
                </a:pPr>
                <a:r>
                  <a:rPr lang="en-US"/>
                  <a:t>24.3%</a:t>
                </a:r>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25646906486888871"/>
                  <c:h val="0.11434242207327389"/>
                </c:manualLayout>
              </c15:layout>
              <c15:showDataLabelsRange val="0"/>
            </c:ext>
          </c:extLst>
        </c:dLbl>
      </c:pivotFmt>
      <c:pivotFmt>
        <c:idx val="23"/>
        <c:spPr>
          <a:solidFill>
            <a:schemeClr val="accent1"/>
          </a:solidFill>
          <a:ln>
            <a:noFill/>
          </a:ln>
          <a:effectLst/>
          <a:scene3d>
            <a:camera prst="orthographicFront">
              <a:rot lat="0" lon="0" rev="0"/>
            </a:camera>
            <a:lightRig rig="threePt" dir="tl"/>
          </a:scene3d>
          <a:sp3d prstMaterial="plastic">
            <a:bevelT w="0" h="0"/>
          </a:sp3d>
        </c:spPr>
        <c:dLbl>
          <c:idx val="0"/>
          <c:layout>
            <c:manualLayout>
              <c:x val="-0.11762086247208446"/>
              <c:y val="7.0592150929480929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Middle</a:t>
                </a:r>
                <a:r>
                  <a:rPr lang="en-US" baseline="0"/>
                  <a:t> East &amp; North Africa</a:t>
                </a:r>
              </a:p>
              <a:p>
                <a:pPr>
                  <a:defRPr lang="en-US" sz="1000" b="0" i="0" u="none" strike="noStrike" kern="1200" baseline="0">
                    <a:solidFill>
                      <a:schemeClr val="tx1"/>
                    </a:solidFill>
                    <a:latin typeface="+mn-lt"/>
                    <a:ea typeface="+mn-ea"/>
                    <a:cs typeface="+mn-cs"/>
                  </a:defRPr>
                </a:pPr>
                <a:r>
                  <a:rPr lang="en-US" baseline="0"/>
                  <a:t>10.23%</a:t>
                </a: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3192401382583497"/>
                  <c:h val="0.12467300058567056"/>
                </c:manualLayout>
              </c15:layout>
              <c15:showDataLabelsRange val="0"/>
            </c:ext>
          </c:extLst>
        </c:dLbl>
      </c:pivotFmt>
      <c:pivotFmt>
        <c:idx val="24"/>
        <c:spPr>
          <a:solidFill>
            <a:schemeClr val="accent1"/>
          </a:solidFill>
          <a:ln>
            <a:noFill/>
          </a:ln>
          <a:effectLst/>
          <a:scene3d>
            <a:camera prst="orthographicFront">
              <a:rot lat="0" lon="0" rev="0"/>
            </a:camera>
            <a:lightRig rig="threePt" dir="tl"/>
          </a:scene3d>
          <a:sp3d prstMaterial="plastic">
            <a:bevelT w="0" h="0"/>
          </a:sp3d>
        </c:spPr>
        <c:dLbl>
          <c:idx val="0"/>
          <c:layout>
            <c:manualLayout>
              <c:x val="-0.10208610741233913"/>
              <c:y val="4.5118869438840803E-2"/>
            </c:manualLayout>
          </c:layout>
          <c:tx>
            <c:rich>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r>
                  <a:rPr lang="en-US"/>
                  <a:t>North</a:t>
                </a:r>
                <a:r>
                  <a:rPr lang="en-US" baseline="0"/>
                  <a:t> America</a:t>
                </a:r>
              </a:p>
              <a:p>
                <a:pPr>
                  <a:defRPr lang="en-US" sz="1000" b="0" i="0" u="none" strike="noStrike" kern="1200" baseline="0">
                    <a:solidFill>
                      <a:schemeClr val="tx1"/>
                    </a:solidFill>
                    <a:latin typeface="+mn-lt"/>
                    <a:ea typeface="+mn-ea"/>
                    <a:cs typeface="+mn-cs"/>
                  </a:defRPr>
                </a:pPr>
                <a:r>
                  <a:rPr lang="en-US" baseline="0"/>
                  <a:t>4.11%</a:t>
                </a:r>
                <a:endParaRPr lang="en-US"/>
              </a:p>
            </c:rich>
          </c:tx>
          <c:spPr>
            <a:noFill/>
            <a:ln>
              <a:noFill/>
            </a:ln>
            <a:effectLst/>
          </c:spPr>
          <c:txPr>
            <a:bodyPr rot="0" spcFirstLastPara="1" vertOverflow="ellipsis" vert="horz" wrap="square" lIns="38100" tIns="19050" rIns="38100" bIns="19050" anchor="ctr" anchorCtr="1">
              <a:sp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Lst>
        </c:dLbl>
      </c:pivotFmt>
      <c:pivotFmt>
        <c:idx val="25"/>
        <c:spPr>
          <a:solidFill>
            <a:schemeClr val="accent1"/>
          </a:solidFill>
          <a:ln>
            <a:noFill/>
          </a:ln>
          <a:effectLst/>
          <a:scene3d>
            <a:camera prst="orthographicFront">
              <a:rot lat="0" lon="0" rev="0"/>
            </a:camera>
            <a:lightRig rig="threePt" dir="tl"/>
          </a:scene3d>
          <a:sp3d prstMaterial="plastic">
            <a:bevelT w="0" h="0"/>
          </a:sp3d>
        </c:spPr>
        <c:dLbl>
          <c:idx val="0"/>
          <c:layout>
            <c:manualLayout>
              <c:x val="-0.11429214241029459"/>
              <c:y val="-2.3751518405240667E-2"/>
            </c:manualLayout>
          </c:layout>
          <c:tx>
            <c:rich>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r>
                  <a:rPr lang="en-US"/>
                  <a:t>Sub-Saharan</a:t>
                </a:r>
                <a:r>
                  <a:rPr lang="en-US" baseline="0"/>
                  <a:t> Africa</a:t>
                </a:r>
              </a:p>
              <a:p>
                <a:pPr>
                  <a:defRPr lang="en-US" sz="1000" b="0" i="0" u="none" strike="noStrike" kern="1200" baseline="0">
                    <a:solidFill>
                      <a:schemeClr val="tx1"/>
                    </a:solidFill>
                    <a:latin typeface="+mn-lt"/>
                    <a:ea typeface="+mn-ea"/>
                    <a:cs typeface="+mn-cs"/>
                  </a:defRPr>
                </a:pPr>
                <a:r>
                  <a:rPr lang="en-US" baseline="0"/>
                  <a:t>28.88%</a:t>
                </a:r>
                <a:endParaRPr lang="en-US"/>
              </a:p>
            </c:rich>
          </c:tx>
          <c:spPr>
            <a:noFill/>
            <a:ln>
              <a:noFill/>
            </a:ln>
            <a:effectLst/>
          </c:spPr>
          <c:txPr>
            <a:bodyPr rot="0" spcFirstLastPara="1" vertOverflow="ellipsis" vert="horz" wrap="square" lIns="38100" tIns="19050" rIns="38100" bIns="19050" anchor="ctr" anchorCtr="1">
              <a:noAutofit/>
            </a:bodyPr>
            <a:lstStyle/>
            <a:p>
              <a:pPr>
                <a:defRPr lang="en-US" sz="10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1517976031957384"/>
                  <c:h val="0.17014462809917352"/>
                </c:manualLayout>
              </c15:layout>
              <c15:showDataLabelsRange val="0"/>
            </c:ext>
          </c:extLst>
        </c:dLbl>
      </c:pivotFmt>
    </c:pivotFmts>
    <c:plotArea>
      <c:layout>
        <c:manualLayout>
          <c:layoutTarget val="inner"/>
          <c:xMode val="edge"/>
          <c:yMode val="edge"/>
          <c:x val="0.3177121458549988"/>
          <c:y val="5.8282103746060895E-2"/>
          <c:w val="0.37573691001662257"/>
          <c:h val="0.82331972135691101"/>
        </c:manualLayout>
      </c:layout>
      <c:doughnutChart>
        <c:varyColors val="1"/>
        <c:ser>
          <c:idx val="0"/>
          <c:order val="0"/>
          <c:tx>
            <c:strRef>
              <c:f>Sheet2!$B$1:$B$2</c:f>
              <c:strCache>
                <c:ptCount val="1"/>
                <c:pt idx="0">
                  <c:v>Total</c:v>
                </c:pt>
              </c:strCache>
            </c:strRef>
          </c:tx>
          <c:explosion val="1"/>
          <c:dPt>
            <c:idx val="0"/>
            <c:bubble3D val="0"/>
            <c:spPr>
              <a:gradFill rotWithShape="1">
                <a:gsLst>
                  <a:gs pos="0">
                    <a:schemeClr val="accent1">
                      <a:tint val="98000"/>
                      <a:lumMod val="114000"/>
                    </a:schemeClr>
                  </a:gs>
                  <a:gs pos="100000">
                    <a:schemeClr val="accent1">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1-72EA-4498-97D6-D5EA96DF17EB}"/>
              </c:ext>
            </c:extLst>
          </c:dPt>
          <c:dPt>
            <c:idx val="1"/>
            <c:bubble3D val="0"/>
            <c:spPr>
              <a:gradFill rotWithShape="1">
                <a:gsLst>
                  <a:gs pos="0">
                    <a:schemeClr val="accent2">
                      <a:tint val="98000"/>
                      <a:lumMod val="114000"/>
                    </a:schemeClr>
                  </a:gs>
                  <a:gs pos="100000">
                    <a:schemeClr val="accent2">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3-72EA-4498-97D6-D5EA96DF17EB}"/>
              </c:ext>
            </c:extLst>
          </c:dPt>
          <c:dPt>
            <c:idx val="2"/>
            <c:bubble3D val="0"/>
            <c:spPr>
              <a:gradFill rotWithShape="1">
                <a:gsLst>
                  <a:gs pos="0">
                    <a:schemeClr val="accent3">
                      <a:tint val="98000"/>
                      <a:lumMod val="114000"/>
                    </a:schemeClr>
                  </a:gs>
                  <a:gs pos="100000">
                    <a:schemeClr val="accent3">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5-72EA-4498-97D6-D5EA96DF17EB}"/>
              </c:ext>
            </c:extLst>
          </c:dPt>
          <c:dPt>
            <c:idx val="3"/>
            <c:bubble3D val="0"/>
            <c:spPr>
              <a:gradFill rotWithShape="1">
                <a:gsLst>
                  <a:gs pos="0">
                    <a:schemeClr val="accent4">
                      <a:tint val="98000"/>
                      <a:lumMod val="114000"/>
                    </a:schemeClr>
                  </a:gs>
                  <a:gs pos="100000">
                    <a:schemeClr val="accent4">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7-72EA-4498-97D6-D5EA96DF17EB}"/>
              </c:ext>
            </c:extLst>
          </c:dPt>
          <c:dPt>
            <c:idx val="4"/>
            <c:bubble3D val="0"/>
            <c:spPr>
              <a:gradFill rotWithShape="1">
                <a:gsLst>
                  <a:gs pos="0">
                    <a:schemeClr val="accent5">
                      <a:tint val="98000"/>
                      <a:lumMod val="114000"/>
                    </a:schemeClr>
                  </a:gs>
                  <a:gs pos="100000">
                    <a:schemeClr val="accent5">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9-72EA-4498-97D6-D5EA96DF17EB}"/>
              </c:ext>
            </c:extLst>
          </c:dPt>
          <c:dPt>
            <c:idx val="5"/>
            <c:bubble3D val="0"/>
            <c:spPr>
              <a:gradFill rotWithShape="1">
                <a:gsLst>
                  <a:gs pos="0">
                    <a:schemeClr val="accent6">
                      <a:tint val="98000"/>
                      <a:lumMod val="114000"/>
                    </a:schemeClr>
                  </a:gs>
                  <a:gs pos="100000">
                    <a:schemeClr val="accent6">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B-72EA-4498-97D6-D5EA96DF17EB}"/>
              </c:ext>
            </c:extLst>
          </c:dPt>
          <c:dPt>
            <c:idx val="6"/>
            <c:bubble3D val="0"/>
            <c:spPr>
              <a:gradFill rotWithShape="1">
                <a:gsLst>
                  <a:gs pos="0">
                    <a:schemeClr val="accent1">
                      <a:lumMod val="60000"/>
                      <a:tint val="98000"/>
                      <a:lumMod val="114000"/>
                    </a:schemeClr>
                  </a:gs>
                  <a:gs pos="100000">
                    <a:schemeClr val="accent1">
                      <a:lumMod val="60000"/>
                      <a:shade val="90000"/>
                      <a:lumMod val="84000"/>
                    </a:schemeClr>
                  </a:gs>
                </a:gsLst>
                <a:lin ang="5400000" scaled="0"/>
              </a:gradFill>
              <a:ln>
                <a:noFill/>
              </a:ln>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D-72EA-4498-97D6-D5EA96DF17EB}"/>
              </c:ext>
            </c:extLst>
          </c:dPt>
          <c:dLbls>
            <c:dLbl>
              <c:idx val="0"/>
              <c:layout>
                <c:manualLayout>
                  <c:x val="6.4522249875790486E-2"/>
                  <c:y val="-7.1775206681850862E-2"/>
                </c:manualLayout>
              </c:layout>
              <c:tx>
                <c:rich>
                  <a:bodyPr/>
                  <a:lstStyle/>
                  <a:p>
                    <a:r>
                      <a:rPr lang="en-US"/>
                      <a:t>Asia</a:t>
                    </a:r>
                  </a:p>
                  <a:p>
                    <a:r>
                      <a:rPr lang="en-US"/>
                      <a:t>15.54%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2EA-4498-97D6-D5EA96DF17EB}"/>
                </c:ext>
              </c:extLst>
            </c:dLbl>
            <c:dLbl>
              <c:idx val="1"/>
              <c:layout>
                <c:manualLayout>
                  <c:x val="0.14214046822742477"/>
                  <c:y val="-9.2592592592592587E-3"/>
                </c:manualLayout>
              </c:layout>
              <c:tx>
                <c:rich>
                  <a:bodyPr/>
                  <a:lstStyle/>
                  <a:p>
                    <a:r>
                      <a:rPr lang="en-US"/>
                      <a:t>Australia and Oceania</a:t>
                    </a:r>
                  </a:p>
                  <a:p>
                    <a:r>
                      <a:rPr lang="en-US"/>
                      <a:t>10.26%</a:t>
                    </a:r>
                  </a:p>
                  <a:p>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2EA-4498-97D6-D5EA96DF17EB}"/>
                </c:ext>
              </c:extLst>
            </c:dLbl>
            <c:dLbl>
              <c:idx val="2"/>
              <c:layout>
                <c:manualLayout>
                  <c:x val="0.14674690242782126"/>
                  <c:y val="1.9505506876884627E-3"/>
                </c:manualLayout>
              </c:layout>
              <c:tx>
                <c:rich>
                  <a:bodyPr rot="0" spcFirstLastPara="1" vertOverflow="ellipsis" vert="horz" wrap="square" lIns="38100" tIns="19050" rIns="38100" bIns="19050" anchor="ctr" anchorCtr="0">
                    <a:noAutofit/>
                  </a:bodyPr>
                  <a:lstStyle/>
                  <a:p>
                    <a:pPr algn="ctr">
                      <a:defRPr sz="1197" b="1" i="0" u="none" strike="noStrike" kern="1200" baseline="0">
                        <a:solidFill>
                          <a:schemeClr val="bg1"/>
                        </a:solidFill>
                        <a:latin typeface="+mn-lt"/>
                        <a:ea typeface="+mn-ea"/>
                        <a:cs typeface="+mn-cs"/>
                      </a:defRPr>
                    </a:pPr>
                    <a:r>
                      <a:rPr lang="en-US" dirty="0"/>
                      <a:t>Central America &amp; the Caribbean</a:t>
                    </a:r>
                  </a:p>
                  <a:p>
                    <a:pPr algn="ctr">
                      <a:defRPr b="1">
                        <a:solidFill>
                          <a:schemeClr val="bg1"/>
                        </a:solidFill>
                      </a:defRPr>
                    </a:pPr>
                    <a:r>
                      <a:rPr lang="en-US" dirty="0"/>
                      <a:t>6.68%</a:t>
                    </a:r>
                  </a:p>
                </c:rich>
              </c:tx>
              <c:spPr>
                <a:noFill/>
                <a:ln>
                  <a:noFill/>
                </a:ln>
                <a:effectLst/>
              </c:spPr>
              <c:txPr>
                <a:bodyPr rot="0" spcFirstLastPara="1" vertOverflow="ellipsis" vert="horz" wrap="square" lIns="38100" tIns="19050" rIns="38100" bIns="19050" anchor="ctr" anchorCtr="0">
                  <a:noAutofit/>
                </a:bodyPr>
                <a:lstStyle/>
                <a:p>
                  <a:pPr algn="ct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30582056781574163"/>
                      <c:h val="0.12654775368958152"/>
                    </c:manualLayout>
                  </c15:layout>
                  <c15:showDataLabelsRange val="0"/>
                </c:ext>
                <c:ext xmlns:c16="http://schemas.microsoft.com/office/drawing/2014/chart" uri="{C3380CC4-5D6E-409C-BE32-E72D297353CC}">
                  <c16:uniqueId val="{00000005-72EA-4498-97D6-D5EA96DF17EB}"/>
                </c:ext>
              </c:extLst>
            </c:dLbl>
            <c:dLbl>
              <c:idx val="3"/>
              <c:layout>
                <c:manualLayout>
                  <c:x val="4.9936563839056154E-2"/>
                  <c:y val="9.0839572277200131E-2"/>
                </c:manualLayout>
              </c:layout>
              <c:tx>
                <c:rich>
                  <a:bodyPr/>
                  <a:lstStyle/>
                  <a:p>
                    <a:r>
                      <a:rPr lang="en-US"/>
                      <a:t>Europe</a:t>
                    </a:r>
                  </a:p>
                  <a:p>
                    <a:r>
                      <a:rPr lang="en-US"/>
                      <a:t>24.3%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2EA-4498-97D6-D5EA96DF17EB}"/>
                </c:ext>
              </c:extLst>
            </c:dLbl>
            <c:dLbl>
              <c:idx val="4"/>
              <c:layout>
                <c:manualLayout>
                  <c:x val="-6.2317594102715812E-2"/>
                  <c:y val="7.0592150929480929E-2"/>
                </c:manualLayout>
              </c:layout>
              <c:tx>
                <c:rich>
                  <a:bodyPr/>
                  <a:lstStyle/>
                  <a:p>
                    <a:r>
                      <a:rPr lang="en-US"/>
                      <a:t>Middle East &amp; North Africa</a:t>
                    </a:r>
                  </a:p>
                  <a:p>
                    <a:r>
                      <a:rPr lang="en-US"/>
                      <a:t>10.23%</a:t>
                    </a:r>
                  </a:p>
                </c:rich>
              </c:tx>
              <c:showLegendKey val="0"/>
              <c:showVal val="1"/>
              <c:showCatName val="0"/>
              <c:showSerName val="0"/>
              <c:showPercent val="0"/>
              <c:showBubbleSize val="0"/>
              <c:extLst>
                <c:ext xmlns:c15="http://schemas.microsoft.com/office/drawing/2012/chart" uri="{CE6537A1-D6FC-4f65-9D91-7224C49458BB}">
                  <c15:layout>
                    <c:manualLayout>
                      <c:w val="0.26449276067665584"/>
                      <c:h val="0.1292972951440067"/>
                    </c:manualLayout>
                  </c15:layout>
                  <c15:showDataLabelsRange val="0"/>
                </c:ext>
                <c:ext xmlns:c16="http://schemas.microsoft.com/office/drawing/2014/chart" uri="{C3380CC4-5D6E-409C-BE32-E72D297353CC}">
                  <c16:uniqueId val="{00000009-72EA-4498-97D6-D5EA96DF17EB}"/>
                </c:ext>
              </c:extLst>
            </c:dLbl>
            <c:dLbl>
              <c:idx val="5"/>
              <c:layout>
                <c:manualLayout>
                  <c:x val="-0.10208610741233913"/>
                  <c:y val="4.5118869438840803E-2"/>
                </c:manualLayout>
              </c:layout>
              <c:tx>
                <c:rich>
                  <a:bodyPr/>
                  <a:lstStyle/>
                  <a:p>
                    <a:r>
                      <a:rPr lang="en-US"/>
                      <a:t>North</a:t>
                    </a:r>
                    <a:r>
                      <a:rPr lang="en-US" baseline="0"/>
                      <a:t> America</a:t>
                    </a:r>
                  </a:p>
                  <a:p>
                    <a:r>
                      <a:rPr lang="en-US" baseline="0"/>
                      <a:t>4.11%</a:t>
                    </a:r>
                    <a:endParaRPr lang="en-US"/>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72EA-4498-97D6-D5EA96DF17EB}"/>
                </c:ext>
              </c:extLst>
            </c:dLbl>
            <c:dLbl>
              <c:idx val="6"/>
              <c:layout>
                <c:manualLayout>
                  <c:x val="-0.11429214241029459"/>
                  <c:y val="-2.3751518405240667E-2"/>
                </c:manualLayout>
              </c:layout>
              <c:tx>
                <c:rich>
                  <a:bodyPr/>
                  <a:lstStyle/>
                  <a:p>
                    <a:r>
                      <a:rPr lang="en-US"/>
                      <a:t>Sub-Saharan Africa</a:t>
                    </a:r>
                  </a:p>
                  <a:p>
                    <a:r>
                      <a:rPr lang="en-US"/>
                      <a:t>28.88%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72EA-4498-97D6-D5EA96DF17EB}"/>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Sheet2!$A$3:$A$10</c:f>
              <c:strCache>
                <c:ptCount val="7"/>
                <c:pt idx="0">
                  <c:v>Asia</c:v>
                </c:pt>
                <c:pt idx="1">
                  <c:v>Australia and Oceania</c:v>
                </c:pt>
                <c:pt idx="2">
                  <c:v>Central America and the Caribbean</c:v>
                </c:pt>
                <c:pt idx="3">
                  <c:v>Europe</c:v>
                </c:pt>
                <c:pt idx="4">
                  <c:v>Middle East and North Africa</c:v>
                </c:pt>
                <c:pt idx="5">
                  <c:v>North America</c:v>
                </c:pt>
                <c:pt idx="6">
                  <c:v>Sub-Saharan Africa</c:v>
                </c:pt>
              </c:strCache>
            </c:strRef>
          </c:cat>
          <c:val>
            <c:numRef>
              <c:f>Sheet2!$B$3:$B$10</c:f>
              <c:numCache>
                <c:formatCode>0.00,"M"</c:formatCode>
                <c:ptCount val="7"/>
                <c:pt idx="0">
                  <c:v>21347091.020000003</c:v>
                </c:pt>
                <c:pt idx="1">
                  <c:v>14094265.130000003</c:v>
                </c:pt>
                <c:pt idx="2">
                  <c:v>9170385.4900000002</c:v>
                </c:pt>
                <c:pt idx="3">
                  <c:v>33368932.109999999</c:v>
                </c:pt>
                <c:pt idx="4">
                  <c:v>14052706.58</c:v>
                </c:pt>
                <c:pt idx="5">
                  <c:v>5643356.5500000007</c:v>
                </c:pt>
                <c:pt idx="6">
                  <c:v>39672031.430000007</c:v>
                </c:pt>
              </c:numCache>
            </c:numRef>
          </c:val>
          <c:extLst>
            <c:ext xmlns:c16="http://schemas.microsoft.com/office/drawing/2014/chart" uri="{C3380CC4-5D6E-409C-BE32-E72D297353CC}">
              <c16:uniqueId val="{0000000E-72EA-4498-97D6-D5EA96DF17EB}"/>
            </c:ext>
          </c:extLst>
        </c:ser>
        <c:dLbls>
          <c:showLegendKey val="0"/>
          <c:showVal val="1"/>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8.2908951050521609E-2"/>
          <c:y val="2.9100529100529099E-2"/>
          <c:w val="0.89430412314952357"/>
          <c:h val="0.90992959213431657"/>
        </c:manualLayout>
      </c:layout>
      <c:barChart>
        <c:barDir val="bar"/>
        <c:grouping val="stacked"/>
        <c:varyColors val="0"/>
        <c:ser>
          <c:idx val="0"/>
          <c:order val="0"/>
          <c:tx>
            <c:strRef>
              <c:f>Sheet3!$B$95</c:f>
              <c:strCache>
                <c:ptCount val="1"/>
                <c:pt idx="0">
                  <c:v>Total</c:v>
                </c:pt>
              </c:strCache>
            </c:strRef>
          </c:tx>
          <c:spPr>
            <a:solidFill>
              <a:schemeClr val="accent4"/>
            </a:solidFill>
            <a:ln>
              <a:noFill/>
            </a:ln>
            <a:effectLst/>
          </c:spPr>
          <c:invertIfNegative val="0"/>
          <c:dLbls>
            <c:dLbl>
              <c:idx val="0"/>
              <c:layout>
                <c:manualLayout>
                  <c:x val="0.32383698501915947"/>
                  <c:y val="-3.3068783068783067E-3"/>
                </c:manualLayout>
              </c:layout>
              <c:tx>
                <c:rich>
                  <a:bodyPr/>
                  <a:lstStyle/>
                  <a:p>
                    <a:fld id="{EAF59CC2-C2F6-4CC7-B2CF-42B6D51FB10B}" type="VALUE">
                      <a:rPr lang="en-US"/>
                      <a:pPr/>
                      <a:t>[VALUE]</a:t>
                    </a:fld>
                    <a:r>
                      <a:rPr lang="en-US"/>
                      <a:t>M</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C383-4C83-97A2-94941C31479C}"/>
                </c:ext>
              </c:extLst>
            </c:dLbl>
            <c:dLbl>
              <c:idx val="1"/>
              <c:layout>
                <c:manualLayout>
                  <c:x val="0.41100935551141549"/>
                  <c:y val="0"/>
                </c:manualLayout>
              </c:layout>
              <c:tx>
                <c:rich>
                  <a:bodyPr/>
                  <a:lstStyle/>
                  <a:p>
                    <a:fld id="{6DF3AAED-E4B2-4976-8119-D1C279E9DC61}" type="VALUE">
                      <a:rPr lang="en-US"/>
                      <a:pPr/>
                      <a:t>[VALUE]</a:t>
                    </a:fld>
                    <a:r>
                      <a:rPr lang="en-US"/>
                      <a:t>M</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383-4C83-97A2-94941C31479C}"/>
                </c:ext>
              </c:extLst>
            </c:dLbl>
            <c:dLbl>
              <c:idx val="2"/>
              <c:layout>
                <c:manualLayout>
                  <c:x val="0.4273238666276496"/>
                  <c:y val="-1.984126984126984E-3"/>
                </c:manualLayout>
              </c:layout>
              <c:tx>
                <c:rich>
                  <a:bodyPr/>
                  <a:lstStyle/>
                  <a:p>
                    <a:fld id="{5D46DC8E-2BF5-4B38-BCC4-AD8400FE1ACB}" type="VALUE">
                      <a:rPr lang="en-US"/>
                      <a:pPr/>
                      <a:t>[VALUE]</a:t>
                    </a:fld>
                    <a:r>
                      <a:rPr lang="en-US"/>
                      <a:t>M</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383-4C83-97A2-94941C31479C}"/>
                </c:ext>
              </c:extLst>
            </c:dLbl>
            <c:dLbl>
              <c:idx val="3"/>
              <c:layout>
                <c:manualLayout>
                  <c:x val="0.36437576552930873"/>
                  <c:y val="-4.6296296296296294E-3"/>
                </c:manualLayout>
              </c:layout>
              <c:tx>
                <c:rich>
                  <a:bodyPr rot="0" spcFirstLastPara="1" vertOverflow="ellipsis" vert="horz" wrap="square" lIns="38100" tIns="19050" rIns="38100" bIns="19050" anchor="ctr" anchorCtr="1">
                    <a:noAutofit/>
                  </a:bodyPr>
                  <a:lstStyle/>
                  <a:p>
                    <a:pPr>
                      <a:defRPr sz="1050" b="1" i="0" u="none" strike="noStrike" kern="1200" baseline="0">
                        <a:solidFill>
                          <a:schemeClr val="tx1">
                            <a:lumMod val="75000"/>
                            <a:lumOff val="25000"/>
                          </a:schemeClr>
                        </a:solidFill>
                        <a:latin typeface="+mn-lt"/>
                        <a:ea typeface="+mn-ea"/>
                        <a:cs typeface="+mn-cs"/>
                      </a:defRPr>
                    </a:pPr>
                    <a:fld id="{5075403C-EC37-4A01-8CFC-914930B65BB4}" type="VALUE">
                      <a:rPr lang="en-US" sz="1050" b="1"/>
                      <a:pPr>
                        <a:defRPr sz="1050" b="1"/>
                      </a:pPr>
                      <a:t>[VALUE]</a:t>
                    </a:fld>
                    <a:r>
                      <a:rPr lang="en-US" sz="1050" b="1"/>
                      <a:t>M</a:t>
                    </a:r>
                  </a:p>
                </c:rich>
              </c:tx>
              <c:spPr>
                <a:noFill/>
                <a:ln>
                  <a:noFill/>
                </a:ln>
                <a:effectLst/>
              </c:spPr>
              <c:txPr>
                <a:bodyPr rot="0" spcFirstLastPara="1" vertOverflow="ellipsis" vert="horz" wrap="square" lIns="38100" tIns="19050" rIns="38100" bIns="19050" anchor="ctr" anchorCtr="1">
                  <a:no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11930555555555555"/>
                      <c:h val="7.4004811898512685E-2"/>
                    </c:manualLayout>
                  </c15:layout>
                  <c15:dlblFieldTable/>
                  <c15:showDataLabelsRange val="0"/>
                </c:ext>
                <c:ext xmlns:c16="http://schemas.microsoft.com/office/drawing/2014/chart" uri="{C3380CC4-5D6E-409C-BE32-E72D297353CC}">
                  <c16:uniqueId val="{00000003-C383-4C83-97A2-94941C31479C}"/>
                </c:ext>
              </c:extLst>
            </c:dLbl>
            <c:dLbl>
              <c:idx val="4"/>
              <c:layout>
                <c:manualLayout>
                  <c:x val="0.38428375808442883"/>
                  <c:y val="-2.6455026455026454E-3"/>
                </c:manualLayout>
              </c:layout>
              <c:tx>
                <c:rich>
                  <a:bodyPr/>
                  <a:lstStyle/>
                  <a:p>
                    <a:fld id="{1BB8410F-A493-4516-9132-F7B2C18E8F09}" type="VALUE">
                      <a:rPr lang="en-US"/>
                      <a:pPr/>
                      <a:t>[VALUE]</a:t>
                    </a:fld>
                    <a:r>
                      <a:rPr lang="en-US"/>
                      <a:t>M</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C383-4C83-97A2-94941C31479C}"/>
                </c:ext>
              </c:extLst>
            </c:dLbl>
            <c:dLbl>
              <c:idx val="5"/>
              <c:layout>
                <c:manualLayout>
                  <c:x val="0.4246114420883737"/>
                  <c:y val="-7.9365079365079361E-3"/>
                </c:manualLayout>
              </c:layout>
              <c:tx>
                <c:rich>
                  <a:bodyPr/>
                  <a:lstStyle/>
                  <a:p>
                    <a:fld id="{7AF38F01-2150-4069-B04D-06BFF4A185C9}" type="VALUE">
                      <a:rPr lang="en-US"/>
                      <a:pPr/>
                      <a:t>[VALUE]</a:t>
                    </a:fld>
                    <a:r>
                      <a:rPr lang="en-US"/>
                      <a:t>M</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383-4C83-97A2-94941C31479C}"/>
                </c:ext>
              </c:extLst>
            </c:dLbl>
            <c:dLbl>
              <c:idx val="6"/>
              <c:layout>
                <c:manualLayout>
                  <c:x val="0.36074205990354485"/>
                  <c:y val="2.6455026455025972E-3"/>
                </c:manualLayout>
              </c:layout>
              <c:tx>
                <c:rich>
                  <a:bodyPr/>
                  <a:lstStyle/>
                  <a:p>
                    <a:fld id="{86EBD157-FF88-4C2D-9B80-41DDF49A30C5}" type="VALUE">
                      <a:rPr lang="en-US" b="1"/>
                      <a:pPr/>
                      <a:t>[VALUE]</a:t>
                    </a:fld>
                    <a:r>
                      <a:rPr lang="en-US" dirty="0"/>
                      <a:t>M</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C383-4C83-97A2-94941C31479C}"/>
                </c:ext>
              </c:extLst>
            </c:dLbl>
            <c:dLbl>
              <c:idx val="7"/>
              <c:layout>
                <c:manualLayout>
                  <c:x val="0.37206810439754601"/>
                  <c:y val="-2.6455026455026454E-3"/>
                </c:manualLayout>
              </c:layout>
              <c:tx>
                <c:rich>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fld id="{C09F6198-75C7-4670-A445-901A20E743BE}" type="VALUE">
                      <a:rPr lang="en-US" sz="1050" b="1"/>
                      <a:pPr>
                        <a:defRPr sz="1050" b="1"/>
                      </a:pPr>
                      <a:t>[VALUE]</a:t>
                    </a:fld>
                    <a:r>
                      <a:rPr lang="en-US" sz="1050" b="1"/>
                      <a:t>M</a:t>
                    </a:r>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C383-4C83-97A2-94941C31479C}"/>
                </c:ext>
              </c:extLst>
            </c:dLbl>
            <c:dLbl>
              <c:idx val="8"/>
              <c:layout>
                <c:manualLayout>
                  <c:x val="0.4016867069564235"/>
                  <c:y val="-1.5873015873015872E-2"/>
                </c:manualLayout>
              </c:layout>
              <c:tx>
                <c:rich>
                  <a:bodyPr/>
                  <a:lstStyle/>
                  <a:p>
                    <a:fld id="{BCB197A3-9301-4550-8A30-5100ED1DDAFA}" type="VALUE">
                      <a:rPr lang="en-US"/>
                      <a:pPr/>
                      <a:t>[VALUE]</a:t>
                    </a:fld>
                    <a:r>
                      <a:rPr lang="en-US" dirty="0"/>
                      <a:t>M</a:t>
                    </a:r>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C383-4C83-97A2-94941C31479C}"/>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Sheet3!$A$96:$A$104</c:f>
              <c:strCache>
                <c:ptCount val="9"/>
                <c:pt idx="0">
                  <c:v>Azerbaijan</c:v>
                </c:pt>
                <c:pt idx="1">
                  <c:v>Djibouti</c:v>
                </c:pt>
                <c:pt idx="2">
                  <c:v>Honduras</c:v>
                </c:pt>
                <c:pt idx="3">
                  <c:v>Lithuania</c:v>
                </c:pt>
                <c:pt idx="4">
                  <c:v>Mexico</c:v>
                </c:pt>
                <c:pt idx="5">
                  <c:v>Myanmar</c:v>
                </c:pt>
                <c:pt idx="6">
                  <c:v>Rwanda</c:v>
                </c:pt>
                <c:pt idx="7">
                  <c:v>The Gambia</c:v>
                </c:pt>
                <c:pt idx="8">
                  <c:v>Turkmenistan</c:v>
                </c:pt>
              </c:strCache>
            </c:strRef>
          </c:cat>
          <c:val>
            <c:numRef>
              <c:f>Sheet3!$B$96:$B$104</c:f>
              <c:numCache>
                <c:formatCode>0.00</c:formatCode>
                <c:ptCount val="9"/>
                <c:pt idx="0">
                  <c:v>4.47</c:v>
                </c:pt>
                <c:pt idx="1">
                  <c:v>6.05</c:v>
                </c:pt>
                <c:pt idx="2">
                  <c:v>6.33</c:v>
                </c:pt>
                <c:pt idx="3">
                  <c:v>5.39</c:v>
                </c:pt>
                <c:pt idx="4">
                  <c:v>5.64</c:v>
                </c:pt>
                <c:pt idx="5">
                  <c:v>6.16</c:v>
                </c:pt>
                <c:pt idx="6">
                  <c:v>5.25</c:v>
                </c:pt>
                <c:pt idx="7">
                  <c:v>5.44</c:v>
                </c:pt>
                <c:pt idx="8">
                  <c:v>5.82</c:v>
                </c:pt>
              </c:numCache>
            </c:numRef>
          </c:val>
          <c:extLst>
            <c:ext xmlns:c16="http://schemas.microsoft.com/office/drawing/2014/chart" uri="{C3380CC4-5D6E-409C-BE32-E72D297353CC}">
              <c16:uniqueId val="{00000009-C383-4C83-97A2-94941C31479C}"/>
            </c:ext>
          </c:extLst>
        </c:ser>
        <c:dLbls>
          <c:dLblPos val="inEnd"/>
          <c:showLegendKey val="0"/>
          <c:showVal val="1"/>
          <c:showCatName val="0"/>
          <c:showSerName val="0"/>
          <c:showPercent val="0"/>
          <c:showBubbleSize val="0"/>
        </c:dLbls>
        <c:gapWidth val="150"/>
        <c:overlap val="100"/>
        <c:axId val="1185002975"/>
        <c:axId val="1238264255"/>
      </c:barChart>
      <c:catAx>
        <c:axId val="118500297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238264255"/>
        <c:crosses val="autoZero"/>
        <c:auto val="1"/>
        <c:lblAlgn val="ctr"/>
        <c:lblOffset val="100"/>
        <c:noMultiLvlLbl val="0"/>
      </c:catAx>
      <c:valAx>
        <c:axId val="1238264255"/>
        <c:scaling>
          <c:orientation val="minMax"/>
        </c:scaling>
        <c:delete val="0"/>
        <c:axPos val="b"/>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1850029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Sheet4!$C$12</c:f>
              <c:strCache>
                <c:ptCount val="1"/>
                <c:pt idx="0">
                  <c:v>Total</c:v>
                </c:pt>
              </c:strCache>
            </c:strRef>
          </c:tx>
          <c:spPr>
            <a:solidFill>
              <a:schemeClr val="accent1"/>
            </a:solidFill>
            <a:ln>
              <a:noFill/>
            </a:ln>
            <a:effectLst/>
          </c:spPr>
          <c:invertIfNegative val="0"/>
          <c:dLbls>
            <c:dLbl>
              <c:idx val="0"/>
              <c:tx>
                <c:rich>
                  <a:bodyPr/>
                  <a:lstStyle/>
                  <a:p>
                    <a:fld id="{241C0F85-B72D-4668-84D7-1D61FD1F6898}"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84E-4101-9694-A15D8D76B5F2}"/>
                </c:ext>
              </c:extLst>
            </c:dLbl>
            <c:dLbl>
              <c:idx val="1"/>
              <c:tx>
                <c:rich>
                  <a:bodyPr/>
                  <a:lstStyle/>
                  <a:p>
                    <a:fld id="{144542F4-6610-44AD-B22F-25335827A871}"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84E-4101-9694-A15D8D76B5F2}"/>
                </c:ext>
              </c:extLst>
            </c:dLbl>
            <c:dLbl>
              <c:idx val="2"/>
              <c:tx>
                <c:rich>
                  <a:bodyPr/>
                  <a:lstStyle/>
                  <a:p>
                    <a:fld id="{607C98D5-B64E-4728-9519-955FC10FB729}"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84E-4101-9694-A15D8D76B5F2}"/>
                </c:ext>
              </c:extLst>
            </c:dLbl>
            <c:dLbl>
              <c:idx val="3"/>
              <c:tx>
                <c:rich>
                  <a:bodyPr/>
                  <a:lstStyle/>
                  <a:p>
                    <a:fld id="{21249F7D-3BDC-4102-9D68-DB61399BB572}"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284E-4101-9694-A15D8D76B5F2}"/>
                </c:ext>
              </c:extLst>
            </c:dLbl>
            <c:dLbl>
              <c:idx val="4"/>
              <c:tx>
                <c:rich>
                  <a:bodyPr/>
                  <a:lstStyle/>
                  <a:p>
                    <a:fld id="{B26A50D0-B2D6-48CD-939A-C3593CC4676D}"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284E-4101-9694-A15D8D76B5F2}"/>
                </c:ext>
              </c:extLst>
            </c:dLbl>
            <c:dLbl>
              <c:idx val="5"/>
              <c:tx>
                <c:rich>
                  <a:bodyPr/>
                  <a:lstStyle/>
                  <a:p>
                    <a:fld id="{FCE6C246-1D72-40CD-B304-26458DDB4A8B}"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284E-4101-9694-A15D8D76B5F2}"/>
                </c:ext>
              </c:extLst>
            </c:dLbl>
            <c:dLbl>
              <c:idx val="6"/>
              <c:tx>
                <c:rich>
                  <a:bodyPr/>
                  <a:lstStyle/>
                  <a:p>
                    <a:fld id="{EEE0280B-6712-492B-B3FE-3A41456E48BE}"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284E-4101-9694-A15D8D76B5F2}"/>
                </c:ext>
              </c:extLst>
            </c:dLbl>
            <c:dLbl>
              <c:idx val="7"/>
              <c:tx>
                <c:rich>
                  <a:bodyPr/>
                  <a:lstStyle/>
                  <a:p>
                    <a:fld id="{E8DD1ED7-E9F6-4972-86B4-97C92FC9A79C}"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284E-4101-9694-A15D8D76B5F2}"/>
                </c:ext>
              </c:extLst>
            </c:dLbl>
            <c:dLbl>
              <c:idx val="8"/>
              <c:tx>
                <c:rich>
                  <a:bodyPr/>
                  <a:lstStyle/>
                  <a:p>
                    <a:fld id="{D70020CD-C6CC-41C0-8C64-BD9B8CDBF6C4}"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284E-4101-9694-A15D8D76B5F2}"/>
                </c:ext>
              </c:extLst>
            </c:dLbl>
            <c:dLbl>
              <c:idx val="9"/>
              <c:tx>
                <c:rich>
                  <a:bodyPr/>
                  <a:lstStyle/>
                  <a:p>
                    <a:fld id="{C77EAAB3-AA8A-47B4-B00C-0E8329254DBD}"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284E-4101-9694-A15D8D76B5F2}"/>
                </c:ext>
              </c:extLst>
            </c:dLbl>
            <c:dLbl>
              <c:idx val="10"/>
              <c:tx>
                <c:rich>
                  <a:bodyPr/>
                  <a:lstStyle/>
                  <a:p>
                    <a:fld id="{8947A377-3BBA-4BA3-8AF2-9E96DBD27FD8}"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284E-4101-9694-A15D8D76B5F2}"/>
                </c:ext>
              </c:extLst>
            </c:dLbl>
            <c:dLbl>
              <c:idx val="11"/>
              <c:tx>
                <c:rich>
                  <a:bodyPr/>
                  <a:lstStyle/>
                  <a:p>
                    <a:fld id="{F23715FD-3AF4-4E54-92F8-7F415B6B8B1B}" type="VALUE">
                      <a:rPr lang="en-US"/>
                      <a:pPr/>
                      <a:t>[VALUE]</a:t>
                    </a:fld>
                    <a:r>
                      <a:rPr lang="en-US"/>
                      <a:t>M</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284E-4101-9694-A15D8D76B5F2}"/>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Sheet4!$B$13:$B$24</c:f>
              <c:strCache>
                <c:ptCount val="12"/>
                <c:pt idx="0">
                  <c:v>Baby Food</c:v>
                </c:pt>
                <c:pt idx="1">
                  <c:v>Beverages</c:v>
                </c:pt>
                <c:pt idx="2">
                  <c:v>Cereal</c:v>
                </c:pt>
                <c:pt idx="3">
                  <c:v>Clothes</c:v>
                </c:pt>
                <c:pt idx="4">
                  <c:v>Cosmetics</c:v>
                </c:pt>
                <c:pt idx="5">
                  <c:v>Fruits</c:v>
                </c:pt>
                <c:pt idx="6">
                  <c:v>Household</c:v>
                </c:pt>
                <c:pt idx="7">
                  <c:v>Meat</c:v>
                </c:pt>
                <c:pt idx="8">
                  <c:v>Office Supplies</c:v>
                </c:pt>
                <c:pt idx="9">
                  <c:v>Personal Care</c:v>
                </c:pt>
                <c:pt idx="10">
                  <c:v>Snacks</c:v>
                </c:pt>
                <c:pt idx="11">
                  <c:v>Vegetables</c:v>
                </c:pt>
              </c:strCache>
            </c:strRef>
          </c:cat>
          <c:val>
            <c:numRef>
              <c:f>Sheet4!$C$13:$C$24</c:f>
              <c:numCache>
                <c:formatCode>General</c:formatCode>
                <c:ptCount val="12"/>
                <c:pt idx="0">
                  <c:v>10.35</c:v>
                </c:pt>
                <c:pt idx="1">
                  <c:v>2.69</c:v>
                </c:pt>
                <c:pt idx="2">
                  <c:v>5.32</c:v>
                </c:pt>
                <c:pt idx="3">
                  <c:v>7.78</c:v>
                </c:pt>
                <c:pt idx="4">
                  <c:v>36.6</c:v>
                </c:pt>
                <c:pt idx="5">
                  <c:v>4.66</c:v>
                </c:pt>
                <c:pt idx="6">
                  <c:v>29.88</c:v>
                </c:pt>
                <c:pt idx="7">
                  <c:v>4.5</c:v>
                </c:pt>
                <c:pt idx="8">
                  <c:v>30.58</c:v>
                </c:pt>
                <c:pt idx="9">
                  <c:v>3.98</c:v>
                </c:pt>
                <c:pt idx="10">
                  <c:v>2.08</c:v>
                </c:pt>
                <c:pt idx="11">
                  <c:v>3.08</c:v>
                </c:pt>
              </c:numCache>
            </c:numRef>
          </c:val>
          <c:extLst>
            <c:ext xmlns:c16="http://schemas.microsoft.com/office/drawing/2014/chart" uri="{C3380CC4-5D6E-409C-BE32-E72D297353CC}">
              <c16:uniqueId val="{0000000C-284E-4101-9694-A15D8D76B5F2}"/>
            </c:ext>
          </c:extLst>
        </c:ser>
        <c:dLbls>
          <c:dLblPos val="outEnd"/>
          <c:showLegendKey val="0"/>
          <c:showVal val="1"/>
          <c:showCatName val="0"/>
          <c:showSerName val="0"/>
          <c:showPercent val="0"/>
          <c:showBubbleSize val="0"/>
        </c:dLbls>
        <c:gapWidth val="182"/>
        <c:axId val="1187595887"/>
        <c:axId val="1189102735"/>
      </c:barChart>
      <c:catAx>
        <c:axId val="1187595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189102735"/>
        <c:crosses val="autoZero"/>
        <c:auto val="1"/>
        <c:lblAlgn val="ctr"/>
        <c:lblOffset val="100"/>
        <c:noMultiLvlLbl val="0"/>
      </c:catAx>
      <c:valAx>
        <c:axId val="118910273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crossAx val="1187595887"/>
        <c:crosses val="autoZero"/>
        <c:crossBetween val="between"/>
      </c:valAx>
      <c:spPr>
        <a:noFill/>
        <a:ln>
          <a:solidFill>
            <a:schemeClr val="tx1"/>
          </a:solid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D2BAF-5D61-4318-95CC-9DDF3C2BF465}" type="datetimeFigureOut">
              <a:rPr lang="en-IN" smtClean="0"/>
              <a:t>28-03-2023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8332EA-EC7D-434F-A5A4-E4B6DDD0936F}" type="slidenum">
              <a:rPr lang="en-IN" smtClean="0"/>
              <a:t>‹#›</a:t>
            </a:fld>
            <a:endParaRPr lang="en-IN"/>
          </a:p>
        </p:txBody>
      </p:sp>
    </p:spTree>
    <p:extLst>
      <p:ext uri="{BB962C8B-B14F-4D97-AF65-F5344CB8AC3E}">
        <p14:creationId xmlns:p14="http://schemas.microsoft.com/office/powerpoint/2010/main" val="4282136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1781789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2798612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982223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EE6EA9-94EB-467A-8904-40982A8E057B}"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2563564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E6EA9-94EB-467A-8904-40982A8E057B}" type="datetimeFigureOut">
              <a:rPr lang="en-US" smtClean="0"/>
              <a:t>3/28/2023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2069318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EE6EA9-94EB-467A-8904-40982A8E057B}" type="datetimeFigureOut">
              <a:rPr lang="en-US" smtClean="0"/>
              <a:t>3/28/2023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131826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EE6EA9-94EB-467A-8904-40982A8E057B}" type="datetimeFigureOut">
              <a:rPr lang="en-US" smtClean="0"/>
              <a:t>3/28/2023</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1861524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3EE6EA9-94EB-467A-8904-40982A8E057B}"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3373346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3EE6EA9-94EB-467A-8904-40982A8E057B}"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1920756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3EE6EA9-94EB-467A-8904-40982A8E057B}" type="datetimeFigureOut">
              <a:rPr lang="en-US" smtClean="0"/>
              <a:t>3/28/2023</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275209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31251622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3196822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2399299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3EE6EA9-94EB-467A-8904-40982A8E057B}" type="datetimeFigureOut">
              <a:rPr lang="en-US" smtClean="0"/>
              <a:t>3/28/2023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3998141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3EE6EA9-94EB-467A-8904-40982A8E057B}" type="datetimeFigureOut">
              <a:rPr lang="en-US" smtClean="0"/>
              <a:t>3/28/2023</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2748159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27942985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3EE6EA9-94EB-467A-8904-40982A8E057B}" type="datetimeFigureOut">
              <a:rPr lang="en-US" smtClean="0"/>
              <a:t>3/28/2023</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A20D203-4D0B-40BB-8090-EE774AC2FB27}" type="slidenum">
              <a:rPr lang="en-US" smtClean="0"/>
              <a:t>‹#›</a:t>
            </a:fld>
            <a:endParaRPr lang="en-US"/>
          </a:p>
        </p:txBody>
      </p:sp>
    </p:spTree>
    <p:extLst>
      <p:ext uri="{BB962C8B-B14F-4D97-AF65-F5344CB8AC3E}">
        <p14:creationId xmlns:p14="http://schemas.microsoft.com/office/powerpoint/2010/main" val="3507763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3EE6EA9-94EB-467A-8904-40982A8E057B}" type="datetimeFigureOut">
              <a:rPr lang="en-US" smtClean="0"/>
              <a:t>3/28/2023</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A20D203-4D0B-40BB-8090-EE774AC2FB27}" type="slidenum">
              <a:rPr lang="en-US" smtClean="0"/>
              <a:t>‹#›</a:t>
            </a:fld>
            <a:endParaRPr lang="en-US"/>
          </a:p>
        </p:txBody>
      </p:sp>
    </p:spTree>
    <p:extLst>
      <p:ext uri="{BB962C8B-B14F-4D97-AF65-F5344CB8AC3E}">
        <p14:creationId xmlns:p14="http://schemas.microsoft.com/office/powerpoint/2010/main" val="165346040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0"/>
                <a:lumOff val="100000"/>
              </a:schemeClr>
            </a:gs>
            <a:gs pos="100000">
              <a:schemeClr val="accent1">
                <a:lumMod val="0"/>
                <a:lumOff val="100000"/>
              </a:schemeClr>
            </a:gs>
            <a:gs pos="100000">
              <a:schemeClr val="accent1">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F9821F-632A-4358-88F2-2DF75A844BEE}"/>
              </a:ext>
            </a:extLst>
          </p:cNvPr>
          <p:cNvSpPr txBox="1"/>
          <p:nvPr/>
        </p:nvSpPr>
        <p:spPr>
          <a:xfrm>
            <a:off x="849907" y="2598003"/>
            <a:ext cx="10492185" cy="1661993"/>
          </a:xfrm>
          <a:prstGeom prst="rect">
            <a:avLst/>
          </a:prstGeom>
          <a:noFill/>
        </p:spPr>
        <p:txBody>
          <a:bodyPr wrap="square" lIns="0" tIns="0" rIns="0" bIns="0" rtlCol="0">
            <a:spAutoFit/>
          </a:bodyPr>
          <a:lstStyle/>
          <a:p>
            <a:pPr algn="ctr"/>
            <a:r>
              <a:rPr lang="en-US" sz="5400" b="1" dirty="0">
                <a:solidFill>
                  <a:schemeClr val="bg1"/>
                </a:solidFill>
                <a:latin typeface="Segoe UI" panose="020B0502040204020203" pitchFamily="34" charset="0"/>
                <a:cs typeface="Segoe UI" panose="020B0502040204020203" pitchFamily="34" charset="0"/>
              </a:rPr>
              <a:t>AMAZON SALES </a:t>
            </a:r>
          </a:p>
          <a:p>
            <a:pPr algn="ctr"/>
            <a:r>
              <a:rPr lang="en-US" sz="5400" b="1" dirty="0">
                <a:solidFill>
                  <a:schemeClr val="bg1"/>
                </a:solidFill>
                <a:latin typeface="Segoe UI" panose="020B0502040204020203" pitchFamily="34" charset="0"/>
                <a:cs typeface="Segoe UI" panose="020B0502040204020203" pitchFamily="34" charset="0"/>
              </a:rPr>
              <a:t>DATA ANALYSIS REPORT</a:t>
            </a:r>
          </a:p>
        </p:txBody>
      </p:sp>
      <p:sp>
        <p:nvSpPr>
          <p:cNvPr id="9" name="Rectangle 8">
            <a:extLst>
              <a:ext uri="{FF2B5EF4-FFF2-40B4-BE49-F238E27FC236}">
                <a16:creationId xmlns:a16="http://schemas.microsoft.com/office/drawing/2014/main" id="{B7B9D66B-AADF-4CF1-876D-9D1F86554CAC}"/>
              </a:ext>
            </a:extLst>
          </p:cNvPr>
          <p:cNvSpPr/>
          <p:nvPr/>
        </p:nvSpPr>
        <p:spPr>
          <a:xfrm>
            <a:off x="499291" y="4259996"/>
            <a:ext cx="11193416" cy="553998"/>
          </a:xfrm>
          <a:prstGeom prst="rect">
            <a:avLst/>
          </a:prstGeom>
        </p:spPr>
        <p:txBody>
          <a:bodyPr wrap="square" lIns="0" tIns="0" rIns="0" bIns="0">
            <a:spAutoFit/>
          </a:bodyPr>
          <a:lstStyle/>
          <a:p>
            <a:pPr algn="ctr"/>
            <a:r>
              <a:rPr lang="en-US" sz="3600" b="1" u="sng" dirty="0">
                <a:solidFill>
                  <a:schemeClr val="bg1"/>
                </a:solidFill>
                <a:latin typeface="Segoe UI" panose="020B0502040204020203" pitchFamily="34" charset="0"/>
                <a:cs typeface="Segoe UI Light" panose="020B0502040204020203" pitchFamily="34" charset="0"/>
              </a:rPr>
              <a:t>VIJAYA DHANGAR</a:t>
            </a:r>
            <a:endParaRPr lang="en-US" sz="3600" b="1" u="sng" dirty="0">
              <a:solidFill>
                <a:schemeClr val="bg1"/>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601850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a:extLst>
              <a:ext uri="{FF2B5EF4-FFF2-40B4-BE49-F238E27FC236}">
                <a16:creationId xmlns:a16="http://schemas.microsoft.com/office/drawing/2014/main" id="{865C4A2A-3BA4-455B-B2F0-EE678D627B82}"/>
              </a:ext>
              <a:ext uri="{C183D7F6-B498-43B3-948B-1728B52AA6E4}">
                <adec:decorative xmlns:adec="http://schemas.microsoft.com/office/drawing/2017/decorative" val="1"/>
              </a:ext>
            </a:extLst>
          </p:cNvPr>
          <p:cNvSpPr/>
          <p:nvPr/>
        </p:nvSpPr>
        <p:spPr>
          <a:xfrm>
            <a:off x="4115474" y="2"/>
            <a:ext cx="3961053" cy="6857998"/>
          </a:xfrm>
          <a:prstGeom prst="parallelogram">
            <a:avLst>
              <a:gd name="adj" fmla="val 0"/>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path path="circle">
              <a:fillToRect l="100000" t="100000"/>
            </a:path>
            <a:tileRect r="-100000" b="-10000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3" name="TextBox 2">
            <a:extLst>
              <a:ext uri="{FF2B5EF4-FFF2-40B4-BE49-F238E27FC236}">
                <a16:creationId xmlns:a16="http://schemas.microsoft.com/office/drawing/2014/main" id="{AAC75AF7-DDFA-4626-94EB-3165891EAEA0}"/>
              </a:ext>
            </a:extLst>
          </p:cNvPr>
          <p:cNvSpPr txBox="1"/>
          <p:nvPr/>
        </p:nvSpPr>
        <p:spPr>
          <a:xfrm>
            <a:off x="291254" y="1006417"/>
            <a:ext cx="3411414" cy="677108"/>
          </a:xfrm>
          <a:prstGeom prst="rect">
            <a:avLst/>
          </a:prstGeom>
          <a:noFill/>
        </p:spPr>
        <p:txBody>
          <a:bodyPr wrap="square" lIns="0" tIns="0" rIns="0" bIns="0" rtlCol="0">
            <a:spAutoFit/>
          </a:bodyPr>
          <a:lstStyle/>
          <a:p>
            <a:pPr algn="ctr"/>
            <a:r>
              <a:rPr lang="en-US" sz="4400" b="1" dirty="0">
                <a:solidFill>
                  <a:srgbClr val="002060"/>
                </a:solidFill>
                <a:latin typeface="Segoe UI" panose="020B0502040204020203" pitchFamily="34" charset="0"/>
                <a:cs typeface="Segoe UI" panose="020B0502040204020203" pitchFamily="34" charset="0"/>
              </a:rPr>
              <a:t>Objective</a:t>
            </a:r>
          </a:p>
        </p:txBody>
      </p:sp>
      <p:sp>
        <p:nvSpPr>
          <p:cNvPr id="4" name="Rectangle 3">
            <a:extLst>
              <a:ext uri="{FF2B5EF4-FFF2-40B4-BE49-F238E27FC236}">
                <a16:creationId xmlns:a16="http://schemas.microsoft.com/office/drawing/2014/main" id="{D474E572-D0E3-4452-B9BD-063AB43EDE88}"/>
              </a:ext>
            </a:extLst>
          </p:cNvPr>
          <p:cNvSpPr/>
          <p:nvPr/>
        </p:nvSpPr>
        <p:spPr>
          <a:xfrm>
            <a:off x="8566831" y="2377118"/>
            <a:ext cx="3215846" cy="2769989"/>
          </a:xfrm>
          <a:prstGeom prst="rect">
            <a:avLst/>
          </a:prstGeom>
        </p:spPr>
        <p:txBody>
          <a:bodyPr wrap="square" lIns="0" tIns="0" rIns="0" bIns="0">
            <a:spAutoFit/>
          </a:bodyPr>
          <a:lstStyle/>
          <a:p>
            <a:pPr algn="ctr"/>
            <a:r>
              <a:rPr lang="en-US" sz="2000" b="1" dirty="0">
                <a:solidFill>
                  <a:srgbClr val="474747"/>
                </a:solidFill>
                <a:latin typeface="Segoe UI Light" panose="020B0502040204020203" pitchFamily="34" charset="0"/>
                <a:cs typeface="Segoe UI Light" panose="020B0502040204020203" pitchFamily="34" charset="0"/>
              </a:rPr>
              <a:t>Develop a Report by Extracting-Transforming-Loading of data which contains Sales trend with respect to Year, Month, Quarter and find Some relationships through data to understand and Analyze the Facts.</a:t>
            </a:r>
          </a:p>
        </p:txBody>
      </p:sp>
      <p:sp>
        <p:nvSpPr>
          <p:cNvPr id="5" name="TextBox 4">
            <a:extLst>
              <a:ext uri="{FF2B5EF4-FFF2-40B4-BE49-F238E27FC236}">
                <a16:creationId xmlns:a16="http://schemas.microsoft.com/office/drawing/2014/main" id="{6E14B7AE-38D2-4881-989B-F66FB7D63764}"/>
              </a:ext>
            </a:extLst>
          </p:cNvPr>
          <p:cNvSpPr txBox="1"/>
          <p:nvPr/>
        </p:nvSpPr>
        <p:spPr>
          <a:xfrm>
            <a:off x="4293117" y="1006417"/>
            <a:ext cx="3411414" cy="677108"/>
          </a:xfrm>
          <a:prstGeom prst="rect">
            <a:avLst/>
          </a:prstGeom>
          <a:noFill/>
        </p:spPr>
        <p:txBody>
          <a:bodyPr wrap="square" lIns="0" tIns="0" rIns="0" bIns="0" rtlCol="0">
            <a:spAutoFit/>
          </a:bodyPr>
          <a:lstStyle/>
          <a:p>
            <a:pPr algn="ctr"/>
            <a:r>
              <a:rPr lang="en-US" sz="4400" b="1" dirty="0">
                <a:solidFill>
                  <a:srgbClr val="002060"/>
                </a:solidFill>
                <a:latin typeface="Segoe UI" panose="020B0502040204020203" pitchFamily="34" charset="0"/>
                <a:cs typeface="Segoe UI" panose="020B0502040204020203" pitchFamily="34" charset="0"/>
              </a:rPr>
              <a:t>Benefits</a:t>
            </a:r>
          </a:p>
        </p:txBody>
      </p:sp>
      <p:sp>
        <p:nvSpPr>
          <p:cNvPr id="6" name="TextBox 5">
            <a:extLst>
              <a:ext uri="{FF2B5EF4-FFF2-40B4-BE49-F238E27FC236}">
                <a16:creationId xmlns:a16="http://schemas.microsoft.com/office/drawing/2014/main" id="{65FE45A7-600C-4077-9398-EDD0398C6E77}"/>
              </a:ext>
            </a:extLst>
          </p:cNvPr>
          <p:cNvSpPr txBox="1"/>
          <p:nvPr/>
        </p:nvSpPr>
        <p:spPr>
          <a:xfrm>
            <a:off x="8371263" y="667862"/>
            <a:ext cx="3411414" cy="1354217"/>
          </a:xfrm>
          <a:prstGeom prst="rect">
            <a:avLst/>
          </a:prstGeom>
          <a:noFill/>
        </p:spPr>
        <p:txBody>
          <a:bodyPr wrap="square" lIns="0" tIns="0" rIns="0" bIns="0" rtlCol="0">
            <a:spAutoFit/>
          </a:bodyPr>
          <a:lstStyle/>
          <a:p>
            <a:pPr algn="ctr"/>
            <a:r>
              <a:rPr lang="en-US" sz="4400" b="1" dirty="0">
                <a:solidFill>
                  <a:srgbClr val="002060"/>
                </a:solidFill>
                <a:latin typeface="Segoe UI" panose="020B0502040204020203" pitchFamily="34" charset="0"/>
                <a:cs typeface="Segoe UI" panose="020B0502040204020203" pitchFamily="34" charset="0"/>
              </a:rPr>
              <a:t>Problem Statement</a:t>
            </a:r>
          </a:p>
        </p:txBody>
      </p:sp>
      <p:sp>
        <p:nvSpPr>
          <p:cNvPr id="7" name="Rectangle 6">
            <a:extLst>
              <a:ext uri="{FF2B5EF4-FFF2-40B4-BE49-F238E27FC236}">
                <a16:creationId xmlns:a16="http://schemas.microsoft.com/office/drawing/2014/main" id="{FECD197D-8105-4686-97DD-48184202F8DC}"/>
              </a:ext>
            </a:extLst>
          </p:cNvPr>
          <p:cNvSpPr/>
          <p:nvPr/>
        </p:nvSpPr>
        <p:spPr>
          <a:xfrm>
            <a:off x="4390901" y="2069342"/>
            <a:ext cx="3215846" cy="3385542"/>
          </a:xfrm>
          <a:prstGeom prst="rect">
            <a:avLst/>
          </a:prstGeom>
        </p:spPr>
        <p:txBody>
          <a:bodyPr wrap="square" lIns="0" tIns="0" rIns="0" bIns="0">
            <a:spAutoFit/>
          </a:bodyPr>
          <a:lstStyle/>
          <a:p>
            <a:pPr marL="342900" indent="-342900" algn="just">
              <a:buFont typeface="Arial" panose="020B0604020202020204" pitchFamily="34" charset="0"/>
              <a:buChar char="•"/>
            </a:pPr>
            <a:r>
              <a:rPr lang="en-US" sz="2000" b="1" dirty="0">
                <a:solidFill>
                  <a:schemeClr val="bg1"/>
                </a:solidFill>
                <a:latin typeface="Segoe UI Light" panose="020B0502040204020203" pitchFamily="34" charset="0"/>
                <a:cs typeface="Segoe UI Light" panose="020B0502040204020203" pitchFamily="34" charset="0"/>
              </a:rPr>
              <a:t>Help out to make better business decisions.</a:t>
            </a:r>
          </a:p>
          <a:p>
            <a:pPr marL="342900" indent="-342900" algn="just">
              <a:buFont typeface="Arial" panose="020B0604020202020204" pitchFamily="34" charset="0"/>
              <a:buChar char="•"/>
            </a:pPr>
            <a:r>
              <a:rPr lang="en-US" sz="2000" b="1" dirty="0">
                <a:solidFill>
                  <a:schemeClr val="bg1"/>
                </a:solidFill>
                <a:latin typeface="Segoe UI Light" panose="020B0502040204020203" pitchFamily="34" charset="0"/>
                <a:cs typeface="Segoe UI Light" panose="020B0502040204020203" pitchFamily="34" charset="0"/>
              </a:rPr>
              <a:t>Help analyze customer trends and satisfaction, which can lead to new and better products and services.</a:t>
            </a:r>
          </a:p>
          <a:p>
            <a:pPr marL="342900" indent="-342900" algn="just">
              <a:buFont typeface="Arial" panose="020B0604020202020204" pitchFamily="34" charset="0"/>
              <a:buChar char="•"/>
            </a:pPr>
            <a:r>
              <a:rPr lang="en-US" sz="2000" b="1" dirty="0">
                <a:solidFill>
                  <a:schemeClr val="bg1"/>
                </a:solidFill>
                <a:latin typeface="Segoe UI Light" panose="020B0502040204020203" pitchFamily="34" charset="0"/>
                <a:cs typeface="Segoe UI Light" panose="020B0502040204020203" pitchFamily="34" charset="0"/>
              </a:rPr>
              <a:t>Gives better insight of customers base.</a:t>
            </a:r>
          </a:p>
          <a:p>
            <a:pPr marL="342900" indent="-342900" algn="just">
              <a:buFont typeface="Arial" panose="020B0604020202020204" pitchFamily="34" charset="0"/>
              <a:buChar char="•"/>
            </a:pPr>
            <a:r>
              <a:rPr lang="en-US" sz="2000" b="1" dirty="0">
                <a:solidFill>
                  <a:schemeClr val="bg1"/>
                </a:solidFill>
                <a:latin typeface="Segoe UI Light" panose="020B0502040204020203" pitchFamily="34" charset="0"/>
                <a:cs typeface="Segoe UI Light" panose="020B0502040204020203" pitchFamily="34" charset="0"/>
              </a:rPr>
              <a:t>Helps in easy flow for managing resources.</a:t>
            </a:r>
          </a:p>
        </p:txBody>
      </p:sp>
      <p:sp>
        <p:nvSpPr>
          <p:cNvPr id="8" name="Rectangle 7">
            <a:extLst>
              <a:ext uri="{FF2B5EF4-FFF2-40B4-BE49-F238E27FC236}">
                <a16:creationId xmlns:a16="http://schemas.microsoft.com/office/drawing/2014/main" id="{3D2BC151-F881-46C2-A046-46C8BA40B16A}"/>
              </a:ext>
            </a:extLst>
          </p:cNvPr>
          <p:cNvSpPr/>
          <p:nvPr/>
        </p:nvSpPr>
        <p:spPr>
          <a:xfrm>
            <a:off x="227665" y="2223229"/>
            <a:ext cx="3538593" cy="3077766"/>
          </a:xfrm>
          <a:prstGeom prst="rect">
            <a:avLst/>
          </a:prstGeom>
        </p:spPr>
        <p:txBody>
          <a:bodyPr wrap="square" lIns="0" tIns="0" rIns="0" bIns="0">
            <a:spAutoFit/>
          </a:bodyPr>
          <a:lstStyle/>
          <a:p>
            <a:pPr algn="ctr"/>
            <a:r>
              <a:rPr lang="en-US" sz="2000" b="1" dirty="0">
                <a:solidFill>
                  <a:srgbClr val="474747"/>
                </a:solidFill>
                <a:latin typeface="Segoe UI Light" panose="020B0502040204020203" pitchFamily="34" charset="0"/>
                <a:cs typeface="Segoe UI Light" panose="020B0502040204020203" pitchFamily="34" charset="0"/>
              </a:rPr>
              <a:t>Sales management has gained importance to meet increasing competition and the need</a:t>
            </a:r>
          </a:p>
          <a:p>
            <a:pPr algn="ctr"/>
            <a:r>
              <a:rPr lang="en-US" sz="2000" b="1" dirty="0">
                <a:solidFill>
                  <a:srgbClr val="474747"/>
                </a:solidFill>
                <a:latin typeface="Segoe UI Light" panose="020B0502040204020203" pitchFamily="34" charset="0"/>
                <a:cs typeface="Segoe UI Light" panose="020B0502040204020203" pitchFamily="34" charset="0"/>
              </a:rPr>
              <a:t>for improved methods of distribution to reduce cost and to increase profits. Sales</a:t>
            </a:r>
          </a:p>
          <a:p>
            <a:pPr algn="ctr"/>
            <a:r>
              <a:rPr lang="en-US" sz="2000" b="1" dirty="0">
                <a:solidFill>
                  <a:srgbClr val="474747"/>
                </a:solidFill>
                <a:latin typeface="Segoe UI Light" panose="020B0502040204020203" pitchFamily="34" charset="0"/>
                <a:cs typeface="Segoe UI Light" panose="020B0502040204020203" pitchFamily="34" charset="0"/>
              </a:rPr>
              <a:t>management today is the most important function in a commercial and business</a:t>
            </a:r>
          </a:p>
          <a:p>
            <a:pPr algn="ctr"/>
            <a:r>
              <a:rPr lang="en-US" sz="2000" b="1" dirty="0">
                <a:solidFill>
                  <a:srgbClr val="474747"/>
                </a:solidFill>
                <a:latin typeface="Segoe UI Light" panose="020B0502040204020203" pitchFamily="34" charset="0"/>
                <a:cs typeface="Segoe UI Light" panose="020B0502040204020203" pitchFamily="34" charset="0"/>
              </a:rPr>
              <a:t>enterprise.</a:t>
            </a:r>
          </a:p>
        </p:txBody>
      </p:sp>
    </p:spTree>
    <p:extLst>
      <p:ext uri="{BB962C8B-B14F-4D97-AF65-F5344CB8AC3E}">
        <p14:creationId xmlns:p14="http://schemas.microsoft.com/office/powerpoint/2010/main" val="3478787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154A8E-CAA2-42CA-856E-66DF7DF005B2}"/>
              </a:ext>
            </a:extLst>
          </p:cNvPr>
          <p:cNvSpPr txBox="1"/>
          <p:nvPr/>
        </p:nvSpPr>
        <p:spPr>
          <a:xfrm>
            <a:off x="470646" y="285108"/>
            <a:ext cx="9957039" cy="830997"/>
          </a:xfrm>
          <a:prstGeom prst="rect">
            <a:avLst/>
          </a:prstGeom>
          <a:noFill/>
        </p:spPr>
        <p:txBody>
          <a:bodyPr wrap="square" lIns="0" tIns="0" rIns="0" bIns="0" rtlCol="0">
            <a:spAutoFit/>
          </a:bodyPr>
          <a:lstStyle/>
          <a:p>
            <a:r>
              <a:rPr lang="en-US" sz="5400" b="1" dirty="0">
                <a:solidFill>
                  <a:srgbClr val="002060"/>
                </a:solidFill>
                <a:latin typeface="Segoe UI" panose="020B0502040204020203" pitchFamily="34" charset="0"/>
                <a:cs typeface="Segoe UI" panose="020B0502040204020203" pitchFamily="34" charset="0"/>
              </a:rPr>
              <a:t>Quick Insight </a:t>
            </a:r>
          </a:p>
        </p:txBody>
      </p:sp>
      <p:sp>
        <p:nvSpPr>
          <p:cNvPr id="11" name="Minus Sign 10">
            <a:extLst>
              <a:ext uri="{FF2B5EF4-FFF2-40B4-BE49-F238E27FC236}">
                <a16:creationId xmlns:a16="http://schemas.microsoft.com/office/drawing/2014/main" id="{1CD7DEEA-C01E-4164-832B-42838E9EF856}"/>
              </a:ext>
            </a:extLst>
          </p:cNvPr>
          <p:cNvSpPr/>
          <p:nvPr/>
        </p:nvSpPr>
        <p:spPr>
          <a:xfrm rot="5400000">
            <a:off x="-746312" y="746312"/>
            <a:ext cx="1963270"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A4D542-6C42-4DAA-8D3A-791CE0E11B94}"/>
              </a:ext>
            </a:extLst>
          </p:cNvPr>
          <p:cNvSpPr/>
          <p:nvPr/>
        </p:nvSpPr>
        <p:spPr>
          <a:xfrm>
            <a:off x="470645" y="961713"/>
            <a:ext cx="11193416" cy="830997"/>
          </a:xfrm>
          <a:prstGeom prst="rect">
            <a:avLst/>
          </a:prstGeom>
        </p:spPr>
        <p:txBody>
          <a:bodyPr wrap="square" lIns="0" tIns="0" rIns="0" bIns="0">
            <a:spAutoFit/>
          </a:bodyPr>
          <a:lstStyle/>
          <a:p>
            <a:br>
              <a:rPr lang="en-US" b="0" i="0" dirty="0">
                <a:solidFill>
                  <a:srgbClr val="252423"/>
                </a:solidFill>
                <a:effectLst/>
                <a:latin typeface="Segoe UI" panose="020B0502040204020203" pitchFamily="34" charset="0"/>
              </a:rPr>
            </a:br>
            <a:r>
              <a:rPr lang="en-US" b="0" i="0" dirty="0">
                <a:solidFill>
                  <a:srgbClr val="252423"/>
                </a:solidFill>
                <a:effectLst/>
                <a:latin typeface="Segoe UI" panose="020B0502040204020203" pitchFamily="34" charset="0"/>
              </a:rPr>
              <a:t>﻿</a:t>
            </a:r>
            <a:r>
              <a:rPr lang="en-US" dirty="0">
                <a:solidFill>
                  <a:srgbClr val="252423"/>
                </a:solidFill>
                <a:latin typeface="Segoe UI" panose="020B0502040204020203" pitchFamily="34" charset="0"/>
              </a:rPr>
              <a:t>A quick insight for 2010 to 2017 amazon sales. </a:t>
            </a:r>
            <a:br>
              <a:rPr lang="en-US" b="0" i="0" dirty="0">
                <a:solidFill>
                  <a:srgbClr val="252423"/>
                </a:solidFill>
                <a:effectLst/>
                <a:latin typeface="Segoe UI" panose="020B0502040204020203" pitchFamily="34" charset="0"/>
              </a:rPr>
            </a:br>
            <a:endParaRPr lang="en-US" b="1" dirty="0">
              <a:solidFill>
                <a:srgbClr val="474747"/>
              </a:solidFill>
              <a:latin typeface="Segoe UI Light" panose="020B0502040204020203" pitchFamily="34" charset="0"/>
              <a:cs typeface="Segoe UI Light" panose="020B0502040204020203" pitchFamily="34" charset="0"/>
            </a:endParaRPr>
          </a:p>
        </p:txBody>
      </p:sp>
      <p:sp>
        <p:nvSpPr>
          <p:cNvPr id="5" name="TextBox 4">
            <a:extLst>
              <a:ext uri="{FF2B5EF4-FFF2-40B4-BE49-F238E27FC236}">
                <a16:creationId xmlns:a16="http://schemas.microsoft.com/office/drawing/2014/main" id="{2151A002-5456-4CBC-940F-541D2B9F7CFE}"/>
              </a:ext>
            </a:extLst>
          </p:cNvPr>
          <p:cNvSpPr txBox="1"/>
          <p:nvPr/>
        </p:nvSpPr>
        <p:spPr>
          <a:xfrm>
            <a:off x="957941" y="2075935"/>
            <a:ext cx="3077029" cy="1446550"/>
          </a:xfrm>
          <a:prstGeom prst="rect">
            <a:avLst/>
          </a:prstGeom>
          <a:solidFill>
            <a:schemeClr val="accent4"/>
          </a:solidFill>
          <a:effectLst>
            <a:outerShdw blurRad="50800" dist="38100" dir="5400000" algn="t" rotWithShape="0">
              <a:prstClr val="black">
                <a:alpha val="40000"/>
              </a:prstClr>
            </a:outerShdw>
            <a:reflection blurRad="12700" endPos="0" dist="50800" dir="5400000" sy="-100000" algn="bl" rotWithShape="0"/>
          </a:effectLst>
        </p:spPr>
        <p:txBody>
          <a:bodyPr wrap="square" rtlCol="0">
            <a:spAutoFit/>
          </a:bodyPr>
          <a:lstStyle/>
          <a:p>
            <a:pPr algn="ctr"/>
            <a:r>
              <a:rPr lang="en-US" sz="6000" b="1" dirty="0">
                <a:solidFill>
                  <a:schemeClr val="tx1">
                    <a:lumMod val="75000"/>
                    <a:lumOff val="25000"/>
                  </a:schemeClr>
                </a:solidFill>
                <a:latin typeface="Segoe UI Semibold" panose="020B0702040204020203" pitchFamily="34" charset="0"/>
                <a:cs typeface="Segoe UI Semibold" panose="020B0702040204020203" pitchFamily="34" charset="0"/>
              </a:rPr>
              <a:t>100</a:t>
            </a:r>
            <a:endParaRPr lang="en-US" sz="4400" dirty="0"/>
          </a:p>
          <a:p>
            <a:pPr algn="ctr"/>
            <a:r>
              <a:rPr lang="en-US" sz="2800" dirty="0">
                <a:latin typeface="Segoe UI Light" panose="020B0502040204020203" pitchFamily="34" charset="0"/>
                <a:cs typeface="Segoe UI Light" panose="020B0502040204020203" pitchFamily="34" charset="0"/>
              </a:rPr>
              <a:t>Items</a:t>
            </a:r>
          </a:p>
        </p:txBody>
      </p:sp>
      <p:sp>
        <p:nvSpPr>
          <p:cNvPr id="16" name="TextBox 15">
            <a:extLst>
              <a:ext uri="{FF2B5EF4-FFF2-40B4-BE49-F238E27FC236}">
                <a16:creationId xmlns:a16="http://schemas.microsoft.com/office/drawing/2014/main" id="{94F18C07-75E1-49D4-B411-6D4170E6187B}"/>
              </a:ext>
            </a:extLst>
          </p:cNvPr>
          <p:cNvSpPr txBox="1"/>
          <p:nvPr/>
        </p:nvSpPr>
        <p:spPr>
          <a:xfrm>
            <a:off x="4557485" y="2101122"/>
            <a:ext cx="3077029" cy="1446550"/>
          </a:xfrm>
          <a:prstGeom prst="rect">
            <a:avLst/>
          </a:prstGeom>
          <a:solidFill>
            <a:schemeClr val="accent4"/>
          </a:solidFill>
          <a:effectLst>
            <a:outerShdw blurRad="50800" dist="38100" dir="5400000" algn="t" rotWithShape="0">
              <a:prstClr val="black">
                <a:alpha val="40000"/>
              </a:prstClr>
            </a:outerShdw>
            <a:reflection blurRad="12700" endPos="0" dist="50800" dir="5400000" sy="-100000" algn="bl" rotWithShape="0"/>
          </a:effectLst>
        </p:spPr>
        <p:txBody>
          <a:bodyPr wrap="square" rtlCol="0">
            <a:spAutoFit/>
          </a:bodyPr>
          <a:lstStyle/>
          <a:p>
            <a:pPr algn="ctr"/>
            <a:r>
              <a:rPr lang="en-US" sz="6000" b="1" dirty="0">
                <a:solidFill>
                  <a:schemeClr val="tx1">
                    <a:lumMod val="75000"/>
                    <a:lumOff val="25000"/>
                  </a:schemeClr>
                </a:solidFill>
                <a:latin typeface="Segoe UI Semibold" panose="020B0702040204020203" pitchFamily="34" charset="0"/>
                <a:cs typeface="Segoe UI Light" panose="020B0502040204020203" pitchFamily="34" charset="0"/>
              </a:rPr>
              <a:t>513K</a:t>
            </a:r>
            <a:endParaRPr lang="en-US" sz="4400" dirty="0"/>
          </a:p>
          <a:p>
            <a:pPr algn="ctr"/>
            <a:r>
              <a:rPr lang="en-US" sz="2800" dirty="0">
                <a:latin typeface="Segoe UI Light" panose="020B0502040204020203" pitchFamily="34" charset="0"/>
                <a:cs typeface="Segoe UI Light" panose="020B0502040204020203" pitchFamily="34" charset="0"/>
              </a:rPr>
              <a:t>Total Sales</a:t>
            </a:r>
          </a:p>
        </p:txBody>
      </p:sp>
      <p:sp>
        <p:nvSpPr>
          <p:cNvPr id="20" name="TextBox 19">
            <a:extLst>
              <a:ext uri="{FF2B5EF4-FFF2-40B4-BE49-F238E27FC236}">
                <a16:creationId xmlns:a16="http://schemas.microsoft.com/office/drawing/2014/main" id="{A21E0D9F-4F00-42DD-92D4-D56D232A8FD2}"/>
              </a:ext>
            </a:extLst>
          </p:cNvPr>
          <p:cNvSpPr txBox="1"/>
          <p:nvPr/>
        </p:nvSpPr>
        <p:spPr>
          <a:xfrm>
            <a:off x="6802967" y="4342016"/>
            <a:ext cx="3077029" cy="1446550"/>
          </a:xfrm>
          <a:prstGeom prst="rect">
            <a:avLst/>
          </a:prstGeom>
          <a:solidFill>
            <a:srgbClr val="FFC000"/>
          </a:solidFill>
          <a:effectLst>
            <a:outerShdw blurRad="50800" dist="38100" dir="5400000" algn="t" rotWithShape="0">
              <a:prstClr val="black">
                <a:alpha val="40000"/>
              </a:prstClr>
            </a:outerShdw>
            <a:reflection blurRad="12700" endPos="0" dist="50800" dir="5400000" sy="-100000" algn="bl" rotWithShape="0"/>
          </a:effectLst>
        </p:spPr>
        <p:txBody>
          <a:bodyPr wrap="square" rtlCol="0">
            <a:spAutoFit/>
          </a:bodyPr>
          <a:lstStyle/>
          <a:p>
            <a:pPr algn="ctr"/>
            <a:r>
              <a:rPr lang="en-US" sz="6000" b="1" dirty="0">
                <a:solidFill>
                  <a:schemeClr val="tx1">
                    <a:lumMod val="75000"/>
                    <a:lumOff val="25000"/>
                  </a:schemeClr>
                </a:solidFill>
                <a:latin typeface="Segoe UI Semibold" panose="020B0702040204020203" pitchFamily="34" charset="0"/>
                <a:cs typeface="Segoe UI Light" panose="020B0502040204020203" pitchFamily="34" charset="0"/>
              </a:rPr>
              <a:t>44.17M</a:t>
            </a:r>
            <a:r>
              <a:rPr lang="en-US" sz="4400" dirty="0"/>
              <a:t> </a:t>
            </a:r>
          </a:p>
          <a:p>
            <a:pPr algn="ctr"/>
            <a:r>
              <a:rPr lang="en-US" sz="2800" dirty="0">
                <a:latin typeface="Segoe UI Light" panose="020B0502040204020203" pitchFamily="34" charset="0"/>
                <a:cs typeface="Segoe UI Light" panose="020B0502040204020203" pitchFamily="34" charset="0"/>
              </a:rPr>
              <a:t>Total Profit</a:t>
            </a:r>
          </a:p>
        </p:txBody>
      </p:sp>
      <p:sp>
        <p:nvSpPr>
          <p:cNvPr id="21" name="TextBox 20">
            <a:extLst>
              <a:ext uri="{FF2B5EF4-FFF2-40B4-BE49-F238E27FC236}">
                <a16:creationId xmlns:a16="http://schemas.microsoft.com/office/drawing/2014/main" id="{E3F95F9D-5584-4EA5-9CF0-486E4C5C4C38}"/>
              </a:ext>
            </a:extLst>
          </p:cNvPr>
          <p:cNvSpPr txBox="1"/>
          <p:nvPr/>
        </p:nvSpPr>
        <p:spPr>
          <a:xfrm>
            <a:off x="2676934" y="4342016"/>
            <a:ext cx="3077029" cy="1446550"/>
          </a:xfrm>
          <a:prstGeom prst="rect">
            <a:avLst/>
          </a:prstGeom>
          <a:solidFill>
            <a:schemeClr val="accent4"/>
          </a:solidFill>
          <a:effectLst>
            <a:outerShdw blurRad="50800" dist="38100" dir="5400000" algn="t" rotWithShape="0">
              <a:prstClr val="black">
                <a:alpha val="40000"/>
              </a:prstClr>
            </a:outerShdw>
            <a:reflection blurRad="12700" endPos="0" dist="50800" dir="5400000" sy="-100000" algn="bl" rotWithShape="0"/>
          </a:effectLst>
        </p:spPr>
        <p:txBody>
          <a:bodyPr wrap="square" rtlCol="0">
            <a:spAutoFit/>
          </a:bodyPr>
          <a:lstStyle/>
          <a:p>
            <a:pPr algn="ctr"/>
            <a:r>
              <a:rPr lang="en-US" sz="6000" b="1" dirty="0">
                <a:solidFill>
                  <a:schemeClr val="tx1">
                    <a:lumMod val="75000"/>
                    <a:lumOff val="25000"/>
                  </a:schemeClr>
                </a:solidFill>
                <a:latin typeface="Segoe UI Semibold" panose="020B0702040204020203" pitchFamily="34" charset="0"/>
                <a:cs typeface="Segoe UI Light" panose="020B0502040204020203" pitchFamily="34" charset="0"/>
              </a:rPr>
              <a:t>93.18</a:t>
            </a:r>
            <a:r>
              <a:rPr lang="en-US" sz="4400" dirty="0"/>
              <a:t> </a:t>
            </a:r>
          </a:p>
          <a:p>
            <a:pPr algn="ctr"/>
            <a:r>
              <a:rPr lang="en-US" sz="2800" dirty="0">
                <a:latin typeface="Segoe UI Light" panose="020B0502040204020203" pitchFamily="34" charset="0"/>
                <a:cs typeface="Segoe UI Light" panose="020B0502040204020203" pitchFamily="34" charset="0"/>
              </a:rPr>
              <a:t>Total Cost</a:t>
            </a:r>
          </a:p>
        </p:txBody>
      </p:sp>
      <p:sp>
        <p:nvSpPr>
          <p:cNvPr id="22" name="TextBox 21">
            <a:extLst>
              <a:ext uri="{FF2B5EF4-FFF2-40B4-BE49-F238E27FC236}">
                <a16:creationId xmlns:a16="http://schemas.microsoft.com/office/drawing/2014/main" id="{82F108A0-51E6-46FD-ABB7-E26308D935F1}"/>
              </a:ext>
            </a:extLst>
          </p:cNvPr>
          <p:cNvSpPr txBox="1"/>
          <p:nvPr/>
        </p:nvSpPr>
        <p:spPr>
          <a:xfrm>
            <a:off x="8341482" y="2101122"/>
            <a:ext cx="3077029" cy="1446550"/>
          </a:xfrm>
          <a:prstGeom prst="rect">
            <a:avLst/>
          </a:prstGeom>
          <a:solidFill>
            <a:schemeClr val="accent4"/>
          </a:solidFill>
          <a:effectLst>
            <a:outerShdw blurRad="50800" dist="38100" dir="5400000" algn="t" rotWithShape="0">
              <a:prstClr val="black">
                <a:alpha val="40000"/>
              </a:prstClr>
            </a:outerShdw>
            <a:reflection blurRad="12700" endPos="0" dist="50800" dir="5400000" sy="-100000" algn="bl" rotWithShape="0"/>
          </a:effectLst>
        </p:spPr>
        <p:txBody>
          <a:bodyPr wrap="square" rtlCol="0">
            <a:spAutoFit/>
          </a:bodyPr>
          <a:lstStyle/>
          <a:p>
            <a:pPr algn="ctr"/>
            <a:r>
              <a:rPr lang="en-US" sz="6000" b="1" dirty="0">
                <a:solidFill>
                  <a:schemeClr val="tx1">
                    <a:lumMod val="75000"/>
                    <a:lumOff val="25000"/>
                  </a:schemeClr>
                </a:solidFill>
                <a:latin typeface="Segoe UI Semibold" panose="020B0702040204020203" pitchFamily="34" charset="0"/>
                <a:cs typeface="Segoe UI Light" panose="020B0502040204020203" pitchFamily="34" charset="0"/>
              </a:rPr>
              <a:t>137.35M</a:t>
            </a:r>
            <a:r>
              <a:rPr lang="en-US" sz="4400" dirty="0"/>
              <a:t> </a:t>
            </a:r>
          </a:p>
          <a:p>
            <a:pPr algn="ctr"/>
            <a:r>
              <a:rPr lang="en-US" sz="2800" dirty="0">
                <a:latin typeface="Segoe UI Light" panose="020B0502040204020203" pitchFamily="34" charset="0"/>
                <a:cs typeface="Segoe UI Light" panose="020B0502040204020203" pitchFamily="34" charset="0"/>
              </a:rPr>
              <a:t>Total Revenue</a:t>
            </a:r>
          </a:p>
        </p:txBody>
      </p:sp>
    </p:spTree>
    <p:extLst>
      <p:ext uri="{BB962C8B-B14F-4D97-AF65-F5344CB8AC3E}">
        <p14:creationId xmlns:p14="http://schemas.microsoft.com/office/powerpoint/2010/main" val="2297726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E886F4C-7836-F51A-B70D-3351A2DFAAB8}"/>
              </a:ext>
            </a:extLst>
          </p:cNvPr>
          <p:cNvSpPr txBox="1"/>
          <p:nvPr/>
        </p:nvSpPr>
        <p:spPr>
          <a:xfrm>
            <a:off x="77820" y="1359959"/>
            <a:ext cx="12192001" cy="461665"/>
          </a:xfrm>
          <a:prstGeom prst="rect">
            <a:avLst/>
          </a:prstGeom>
          <a:noFill/>
        </p:spPr>
        <p:txBody>
          <a:bodyPr wrap="square">
            <a:spAutoFit/>
          </a:bodyPr>
          <a:lstStyle/>
          <a:p>
            <a:pPr algn="ctr"/>
            <a:r>
              <a:rPr lang="en-US" sz="2400" b="0" i="0" dirty="0">
                <a:solidFill>
                  <a:srgbClr val="252423"/>
                </a:solidFill>
                <a:effectLst/>
                <a:latin typeface="Cambria Math" panose="02040503050406030204" pitchFamily="18" charset="0"/>
                <a:ea typeface="Cambria Math" panose="02040503050406030204" pitchFamily="18" charset="0"/>
              </a:rPr>
              <a:t>﻿2012 had the highest Revenue at </a:t>
            </a:r>
            <a:r>
              <a:rPr lang="en-US" sz="2400" dirty="0">
                <a:solidFill>
                  <a:srgbClr val="252423"/>
                </a:solidFill>
                <a:latin typeface="Cambria Math" panose="02040503050406030204" pitchFamily="18" charset="0"/>
                <a:ea typeface="Cambria Math" panose="02040503050406030204" pitchFamily="18" charset="0"/>
              </a:rPr>
              <a:t>3</a:t>
            </a:r>
            <a:r>
              <a:rPr lang="en-US" sz="2400" b="0" i="0" dirty="0">
                <a:solidFill>
                  <a:srgbClr val="252423"/>
                </a:solidFill>
                <a:effectLst/>
                <a:latin typeface="Cambria Math" panose="02040503050406030204" pitchFamily="18" charset="0"/>
                <a:ea typeface="Cambria Math" panose="02040503050406030204" pitchFamily="18" charset="0"/>
              </a:rPr>
              <a:t>2M, followed by 2013 at </a:t>
            </a:r>
            <a:r>
              <a:rPr lang="en-US" sz="2400" dirty="0">
                <a:solidFill>
                  <a:srgbClr val="252423"/>
                </a:solidFill>
                <a:latin typeface="Cambria Math" panose="02040503050406030204" pitchFamily="18" charset="0"/>
                <a:ea typeface="Cambria Math" panose="02040503050406030204" pitchFamily="18" charset="0"/>
              </a:rPr>
              <a:t>20M</a:t>
            </a:r>
            <a:r>
              <a:rPr lang="en-US" sz="2400" b="0" i="0" dirty="0">
                <a:solidFill>
                  <a:srgbClr val="252423"/>
                </a:solidFill>
                <a:effectLst/>
                <a:latin typeface="Cambria Math" panose="02040503050406030204" pitchFamily="18" charset="0"/>
                <a:ea typeface="Cambria Math" panose="02040503050406030204" pitchFamily="18" charset="0"/>
              </a:rPr>
              <a:t> and 2010 at </a:t>
            </a:r>
            <a:r>
              <a:rPr lang="en-US" sz="2400" dirty="0">
                <a:solidFill>
                  <a:srgbClr val="252423"/>
                </a:solidFill>
                <a:latin typeface="Cambria Math" panose="02040503050406030204" pitchFamily="18" charset="0"/>
                <a:ea typeface="Cambria Math" panose="02040503050406030204" pitchFamily="18" charset="0"/>
              </a:rPr>
              <a:t>19</a:t>
            </a:r>
            <a:r>
              <a:rPr lang="en-US" sz="2400" b="0" i="0" dirty="0">
                <a:solidFill>
                  <a:srgbClr val="252423"/>
                </a:solidFill>
                <a:effectLst/>
                <a:latin typeface="Cambria Math" panose="02040503050406030204" pitchFamily="18" charset="0"/>
                <a:ea typeface="Cambria Math" panose="02040503050406030204" pitchFamily="18" charset="0"/>
              </a:rPr>
              <a:t>M﻿.</a:t>
            </a:r>
            <a:endParaRPr lang="en-US" sz="2400" b="1" dirty="0">
              <a:solidFill>
                <a:srgbClr val="474747"/>
              </a:solidFill>
              <a:latin typeface="Cambria Math" panose="02040503050406030204" pitchFamily="18" charset="0"/>
              <a:ea typeface="Cambria Math" panose="02040503050406030204" pitchFamily="18" charset="0"/>
              <a:cs typeface="Segoe UI Light" panose="020B0502040204020203" pitchFamily="34" charset="0"/>
            </a:endParaRPr>
          </a:p>
        </p:txBody>
      </p:sp>
      <p:graphicFrame>
        <p:nvGraphicFramePr>
          <p:cNvPr id="12" name="Chart 11">
            <a:extLst>
              <a:ext uri="{FF2B5EF4-FFF2-40B4-BE49-F238E27FC236}">
                <a16:creationId xmlns:a16="http://schemas.microsoft.com/office/drawing/2014/main" id="{568CC7B4-3AC6-1370-4FD4-7EDFC723ED06}"/>
              </a:ext>
            </a:extLst>
          </p:cNvPr>
          <p:cNvGraphicFramePr>
            <a:graphicFrameLocks/>
          </p:cNvGraphicFramePr>
          <p:nvPr>
            <p:extLst>
              <p:ext uri="{D42A27DB-BD31-4B8C-83A1-F6EECF244321}">
                <p14:modId xmlns:p14="http://schemas.microsoft.com/office/powerpoint/2010/main" val="258147811"/>
              </p:ext>
            </p:extLst>
          </p:nvPr>
        </p:nvGraphicFramePr>
        <p:xfrm>
          <a:off x="-1" y="2101174"/>
          <a:ext cx="12192001" cy="4756826"/>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8826F3FA-E3EE-BB9C-0415-3B67A1084F79}"/>
              </a:ext>
            </a:extLst>
          </p:cNvPr>
          <p:cNvSpPr txBox="1"/>
          <p:nvPr/>
        </p:nvSpPr>
        <p:spPr>
          <a:xfrm>
            <a:off x="-1" y="316308"/>
            <a:ext cx="10418323" cy="1015663"/>
          </a:xfrm>
          <a:prstGeom prst="rect">
            <a:avLst/>
          </a:prstGeom>
          <a:noFill/>
        </p:spPr>
        <p:txBody>
          <a:bodyPr wrap="square">
            <a:spAutoFit/>
          </a:bodyPr>
          <a:lstStyle/>
          <a:p>
            <a:pPr algn="ctr"/>
            <a:r>
              <a:rPr lang="en-US" sz="6000" b="1" dirty="0">
                <a:solidFill>
                  <a:srgbClr val="002060"/>
                </a:solidFill>
                <a:latin typeface="Cambria Math" panose="02040503050406030204" pitchFamily="18" charset="0"/>
                <a:ea typeface="Cambria Math" panose="02040503050406030204" pitchFamily="18" charset="0"/>
                <a:cs typeface="Segoe UI" panose="020B0502040204020203" pitchFamily="34" charset="0"/>
              </a:rPr>
              <a:t>Total Sales for all the quarters</a:t>
            </a:r>
          </a:p>
        </p:txBody>
      </p:sp>
      <p:sp>
        <p:nvSpPr>
          <p:cNvPr id="9" name="Minus Sign 8">
            <a:extLst>
              <a:ext uri="{FF2B5EF4-FFF2-40B4-BE49-F238E27FC236}">
                <a16:creationId xmlns:a16="http://schemas.microsoft.com/office/drawing/2014/main" id="{E1324E64-DAA9-3702-1D21-A9E1AE4E5E05}"/>
              </a:ext>
            </a:extLst>
          </p:cNvPr>
          <p:cNvSpPr/>
          <p:nvPr/>
        </p:nvSpPr>
        <p:spPr>
          <a:xfrm rot="5400000">
            <a:off x="-746312" y="746312"/>
            <a:ext cx="1963270"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1031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D25EAEEA-7207-5250-3329-022FA474C744}"/>
              </a:ext>
            </a:extLst>
          </p:cNvPr>
          <p:cNvGraphicFramePr>
            <a:graphicFrameLocks/>
          </p:cNvGraphicFramePr>
          <p:nvPr>
            <p:extLst>
              <p:ext uri="{D42A27DB-BD31-4B8C-83A1-F6EECF244321}">
                <p14:modId xmlns:p14="http://schemas.microsoft.com/office/powerpoint/2010/main" val="372085189"/>
              </p:ext>
            </p:extLst>
          </p:nvPr>
        </p:nvGraphicFramePr>
        <p:xfrm>
          <a:off x="0" y="2276272"/>
          <a:ext cx="12192000" cy="458172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2634C6DF-83B8-0BD2-4850-53B023AA794E}"/>
              </a:ext>
            </a:extLst>
          </p:cNvPr>
          <p:cNvSpPr txBox="1"/>
          <p:nvPr/>
        </p:nvSpPr>
        <p:spPr>
          <a:xfrm>
            <a:off x="345233" y="281865"/>
            <a:ext cx="10058400" cy="1015663"/>
          </a:xfrm>
          <a:prstGeom prst="rect">
            <a:avLst/>
          </a:prstGeom>
          <a:noFill/>
        </p:spPr>
        <p:txBody>
          <a:bodyPr wrap="square">
            <a:spAutoFit/>
          </a:bodyPr>
          <a:lstStyle/>
          <a:p>
            <a:r>
              <a:rPr lang="en-US" sz="6000" b="1" dirty="0">
                <a:solidFill>
                  <a:srgbClr val="002060"/>
                </a:solidFill>
                <a:latin typeface="Cambria Math" panose="02040503050406030204" pitchFamily="18" charset="0"/>
                <a:ea typeface="Cambria Math" panose="02040503050406030204" pitchFamily="18" charset="0"/>
                <a:cs typeface="Segoe UI" panose="020B0502040204020203" pitchFamily="34" charset="0"/>
              </a:rPr>
              <a:t>Monthly Sales Comparison</a:t>
            </a:r>
          </a:p>
        </p:txBody>
      </p:sp>
      <p:sp>
        <p:nvSpPr>
          <p:cNvPr id="7" name="TextBox 6">
            <a:extLst>
              <a:ext uri="{FF2B5EF4-FFF2-40B4-BE49-F238E27FC236}">
                <a16:creationId xmlns:a16="http://schemas.microsoft.com/office/drawing/2014/main" id="{833F8AFB-BD78-5D37-832D-167D10312119}"/>
              </a:ext>
            </a:extLst>
          </p:cNvPr>
          <p:cNvSpPr txBox="1"/>
          <p:nvPr/>
        </p:nvSpPr>
        <p:spPr>
          <a:xfrm>
            <a:off x="550506" y="1227176"/>
            <a:ext cx="9853127" cy="646331"/>
          </a:xfrm>
          <a:prstGeom prst="rect">
            <a:avLst/>
          </a:prstGeom>
          <a:noFill/>
        </p:spPr>
        <p:txBody>
          <a:bodyPr wrap="square">
            <a:spAutoFit/>
          </a:bodyPr>
          <a:lstStyle/>
          <a:p>
            <a:r>
              <a:rPr lang="en-US" b="0" i="0" dirty="0">
                <a:solidFill>
                  <a:srgbClr val="252423"/>
                </a:solidFill>
                <a:effectLst/>
                <a:latin typeface="Segoe UI" panose="020B0502040204020203" pitchFamily="34" charset="0"/>
              </a:rPr>
              <a:t>The sales in </a:t>
            </a:r>
            <a:r>
              <a:rPr lang="en-US" dirty="0">
                <a:solidFill>
                  <a:srgbClr val="252423"/>
                </a:solidFill>
                <a:latin typeface="Segoe UI" panose="020B0502040204020203" pitchFamily="34" charset="0"/>
              </a:rPr>
              <a:t>October </a:t>
            </a:r>
            <a:r>
              <a:rPr lang="en-US" b="0" i="0" dirty="0">
                <a:solidFill>
                  <a:srgbClr val="252423"/>
                </a:solidFill>
                <a:effectLst/>
                <a:latin typeface="Segoe UI" panose="020B0502040204020203" pitchFamily="34" charset="0"/>
              </a:rPr>
              <a:t>and </a:t>
            </a:r>
            <a:r>
              <a:rPr lang="en-US" dirty="0">
                <a:solidFill>
                  <a:srgbClr val="252423"/>
                </a:solidFill>
                <a:latin typeface="Segoe UI" panose="020B0502040204020203" pitchFamily="34" charset="0"/>
              </a:rPr>
              <a:t>July </a:t>
            </a:r>
            <a:r>
              <a:rPr lang="en-US" b="0" i="0" dirty="0">
                <a:solidFill>
                  <a:srgbClr val="252423"/>
                </a:solidFill>
                <a:effectLst/>
                <a:latin typeface="Segoe UI" panose="020B0502040204020203" pitchFamily="34" charset="0"/>
              </a:rPr>
              <a:t>for 2014 &amp; 2012 is high when compared and we can observe for </a:t>
            </a:r>
            <a:r>
              <a:rPr lang="en-US" dirty="0">
                <a:solidFill>
                  <a:srgbClr val="252423"/>
                </a:solidFill>
                <a:latin typeface="Segoe UI" panose="020B0502040204020203" pitchFamily="34" charset="0"/>
              </a:rPr>
              <a:t>June</a:t>
            </a:r>
            <a:r>
              <a:rPr lang="en-US" b="0" i="0" dirty="0">
                <a:solidFill>
                  <a:srgbClr val="252423"/>
                </a:solidFill>
                <a:effectLst/>
                <a:latin typeface="Segoe UI" panose="020B0502040204020203" pitchFamily="34" charset="0"/>
              </a:rPr>
              <a:t> the sales of 2011 drops.</a:t>
            </a:r>
            <a:endParaRPr lang="en-US" b="1" dirty="0">
              <a:solidFill>
                <a:srgbClr val="474747"/>
              </a:solidFill>
              <a:latin typeface="Segoe UI Light" panose="020B0502040204020203" pitchFamily="34" charset="0"/>
              <a:cs typeface="Segoe UI Light" panose="020B0502040204020203" pitchFamily="34" charset="0"/>
            </a:endParaRPr>
          </a:p>
        </p:txBody>
      </p:sp>
      <p:sp>
        <p:nvSpPr>
          <p:cNvPr id="8" name="Minus Sign 7">
            <a:extLst>
              <a:ext uri="{FF2B5EF4-FFF2-40B4-BE49-F238E27FC236}">
                <a16:creationId xmlns:a16="http://schemas.microsoft.com/office/drawing/2014/main" id="{D8C603C8-ABB2-4B2A-535C-FF5158052070}"/>
              </a:ext>
            </a:extLst>
          </p:cNvPr>
          <p:cNvSpPr/>
          <p:nvPr/>
        </p:nvSpPr>
        <p:spPr>
          <a:xfrm rot="5400000">
            <a:off x="-753585" y="684317"/>
            <a:ext cx="1963270"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38819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154A8E-CAA2-42CA-856E-66DF7DF005B2}"/>
              </a:ext>
            </a:extLst>
          </p:cNvPr>
          <p:cNvSpPr txBox="1"/>
          <p:nvPr/>
        </p:nvSpPr>
        <p:spPr>
          <a:xfrm>
            <a:off x="345233" y="285108"/>
            <a:ext cx="11611445" cy="923330"/>
          </a:xfrm>
          <a:prstGeom prst="rect">
            <a:avLst/>
          </a:prstGeom>
          <a:noFill/>
        </p:spPr>
        <p:txBody>
          <a:bodyPr wrap="square" lIns="0" tIns="0" rIns="0" bIns="0" rtlCol="0">
            <a:spAutoFit/>
          </a:bodyPr>
          <a:lstStyle/>
          <a:p>
            <a:r>
              <a:rPr lang="en-US" sz="6000" b="1" dirty="0">
                <a:solidFill>
                  <a:srgbClr val="002060"/>
                </a:solidFill>
                <a:latin typeface="Cambria Math" panose="02040503050406030204" pitchFamily="18" charset="0"/>
                <a:ea typeface="Cambria Math" panose="02040503050406030204" pitchFamily="18" charset="0"/>
                <a:cs typeface="Segoe UI" panose="020B0502040204020203" pitchFamily="34" charset="0"/>
              </a:rPr>
              <a:t>Revenue Categorized By Region</a:t>
            </a:r>
          </a:p>
        </p:txBody>
      </p:sp>
      <p:sp>
        <p:nvSpPr>
          <p:cNvPr id="11" name="Minus Sign 10">
            <a:extLst>
              <a:ext uri="{FF2B5EF4-FFF2-40B4-BE49-F238E27FC236}">
                <a16:creationId xmlns:a16="http://schemas.microsoft.com/office/drawing/2014/main" id="{1CD7DEEA-C01E-4164-832B-42838E9EF856}"/>
              </a:ext>
            </a:extLst>
          </p:cNvPr>
          <p:cNvSpPr/>
          <p:nvPr/>
        </p:nvSpPr>
        <p:spPr>
          <a:xfrm rot="5400000">
            <a:off x="-746312" y="746312"/>
            <a:ext cx="1963270"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A4D542-6C42-4DAA-8D3A-791CE0E11B94}"/>
              </a:ext>
            </a:extLst>
          </p:cNvPr>
          <p:cNvSpPr/>
          <p:nvPr/>
        </p:nvSpPr>
        <p:spPr>
          <a:xfrm>
            <a:off x="470647" y="1423392"/>
            <a:ext cx="11278524" cy="553998"/>
          </a:xfrm>
          <a:prstGeom prst="rect">
            <a:avLst/>
          </a:prstGeom>
        </p:spPr>
        <p:txBody>
          <a:bodyPr wrap="square" lIns="0" tIns="0" rIns="0" bIns="0">
            <a:spAutoFit/>
          </a:bodyPr>
          <a:lstStyle/>
          <a:p>
            <a:r>
              <a:rPr lang="en-US" b="0" i="0" dirty="0">
                <a:solidFill>
                  <a:srgbClr val="252423"/>
                </a:solidFill>
                <a:effectLst/>
                <a:latin typeface="Cambria Math" panose="02040503050406030204" pitchFamily="18" charset="0"/>
                <a:ea typeface="Cambria Math" panose="02040503050406030204" pitchFamily="18" charset="0"/>
              </a:rPr>
              <a:t>﻿</a:t>
            </a:r>
            <a:r>
              <a:rPr lang="en-US" b="1" dirty="0">
                <a:solidFill>
                  <a:srgbClr val="252423"/>
                </a:solidFill>
                <a:latin typeface="Cambria Math" panose="02040503050406030204" pitchFamily="18" charset="0"/>
                <a:ea typeface="Cambria Math" panose="02040503050406030204" pitchFamily="18" charset="0"/>
              </a:rPr>
              <a:t>Sub-Saharan Africa</a:t>
            </a:r>
            <a:r>
              <a:rPr lang="en-US" b="0" i="0" dirty="0">
                <a:solidFill>
                  <a:srgbClr val="252423"/>
                </a:solidFill>
                <a:effectLst/>
                <a:latin typeface="Cambria Math" panose="02040503050406030204" pitchFamily="18" charset="0"/>
                <a:ea typeface="Cambria Math" panose="02040503050406030204" pitchFamily="18" charset="0"/>
              </a:rPr>
              <a:t> accounted for </a:t>
            </a:r>
            <a:r>
              <a:rPr lang="en-US" dirty="0">
                <a:solidFill>
                  <a:srgbClr val="252423"/>
                </a:solidFill>
                <a:latin typeface="Cambria Math" panose="02040503050406030204" pitchFamily="18" charset="0"/>
                <a:ea typeface="Cambria Math" panose="02040503050406030204" pitchFamily="18" charset="0"/>
              </a:rPr>
              <a:t>28.88</a:t>
            </a:r>
            <a:r>
              <a:rPr lang="en-US" b="0" i="0" dirty="0">
                <a:solidFill>
                  <a:srgbClr val="252423"/>
                </a:solidFill>
                <a:effectLst/>
                <a:latin typeface="Cambria Math" panose="02040503050406030204" pitchFamily="18" charset="0"/>
                <a:ea typeface="Cambria Math" panose="02040503050406030204" pitchFamily="18" charset="0"/>
              </a:rPr>
              <a:t>% of Revenue followed by </a:t>
            </a:r>
            <a:r>
              <a:rPr lang="en-US" b="1" dirty="0">
                <a:solidFill>
                  <a:srgbClr val="252423"/>
                </a:solidFill>
                <a:latin typeface="Cambria Math" panose="02040503050406030204" pitchFamily="18" charset="0"/>
                <a:ea typeface="Cambria Math" panose="02040503050406030204" pitchFamily="18" charset="0"/>
              </a:rPr>
              <a:t>Europe</a:t>
            </a:r>
            <a:r>
              <a:rPr lang="en-US" b="0" i="0" dirty="0">
                <a:solidFill>
                  <a:srgbClr val="252423"/>
                </a:solidFill>
                <a:effectLst/>
                <a:latin typeface="Cambria Math" panose="02040503050406030204" pitchFamily="18" charset="0"/>
                <a:ea typeface="Cambria Math" panose="02040503050406030204" pitchFamily="18" charset="0"/>
              </a:rPr>
              <a:t>. The least revenue was accounted by </a:t>
            </a:r>
            <a:r>
              <a:rPr lang="en-US" b="1" dirty="0">
                <a:solidFill>
                  <a:srgbClr val="252423"/>
                </a:solidFill>
                <a:latin typeface="Cambria Math" panose="02040503050406030204" pitchFamily="18" charset="0"/>
                <a:ea typeface="Cambria Math" panose="02040503050406030204" pitchFamily="18" charset="0"/>
              </a:rPr>
              <a:t>North America</a:t>
            </a:r>
            <a:r>
              <a:rPr lang="en-US" b="0" i="0" dirty="0">
                <a:solidFill>
                  <a:srgbClr val="252423"/>
                </a:solidFill>
                <a:effectLst/>
                <a:latin typeface="Cambria Math" panose="02040503050406030204" pitchFamily="18" charset="0"/>
                <a:ea typeface="Cambria Math" panose="02040503050406030204" pitchFamily="18" charset="0"/>
              </a:rPr>
              <a:t> followed by </a:t>
            </a:r>
            <a:r>
              <a:rPr lang="en-US" b="1" i="0" dirty="0">
                <a:solidFill>
                  <a:srgbClr val="252423"/>
                </a:solidFill>
                <a:effectLst/>
                <a:latin typeface="Cambria Math" panose="02040503050406030204" pitchFamily="18" charset="0"/>
                <a:ea typeface="Cambria Math" panose="02040503050406030204" pitchFamily="18" charset="0"/>
              </a:rPr>
              <a:t>Central America &amp; the Caribbean</a:t>
            </a:r>
            <a:r>
              <a:rPr lang="en-US" b="0" i="0" dirty="0">
                <a:solidFill>
                  <a:srgbClr val="252423"/>
                </a:solidFill>
                <a:effectLst/>
                <a:latin typeface="Cambria Math" panose="02040503050406030204" pitchFamily="18" charset="0"/>
                <a:ea typeface="Cambria Math" panose="02040503050406030204" pitchFamily="18" charset="0"/>
              </a:rPr>
              <a:t>.</a:t>
            </a:r>
            <a:endParaRPr lang="en-US" b="1" dirty="0">
              <a:solidFill>
                <a:srgbClr val="474747"/>
              </a:solidFill>
              <a:latin typeface="Cambria Math" panose="02040503050406030204" pitchFamily="18" charset="0"/>
              <a:ea typeface="Cambria Math" panose="02040503050406030204" pitchFamily="18" charset="0"/>
              <a:cs typeface="Segoe UI Light" panose="020B0502040204020203" pitchFamily="34" charset="0"/>
            </a:endParaRPr>
          </a:p>
        </p:txBody>
      </p:sp>
      <p:graphicFrame>
        <p:nvGraphicFramePr>
          <p:cNvPr id="2" name="Chart 1">
            <a:extLst>
              <a:ext uri="{FF2B5EF4-FFF2-40B4-BE49-F238E27FC236}">
                <a16:creationId xmlns:a16="http://schemas.microsoft.com/office/drawing/2014/main" id="{72AE171D-57F8-6FB7-A316-8E8E4D06EF45}"/>
              </a:ext>
            </a:extLst>
          </p:cNvPr>
          <p:cNvGraphicFramePr>
            <a:graphicFrameLocks/>
          </p:cNvGraphicFramePr>
          <p:nvPr>
            <p:extLst>
              <p:ext uri="{D42A27DB-BD31-4B8C-83A1-F6EECF244321}">
                <p14:modId xmlns:p14="http://schemas.microsoft.com/office/powerpoint/2010/main" val="576686347"/>
              </p:ext>
            </p:extLst>
          </p:nvPr>
        </p:nvGraphicFramePr>
        <p:xfrm>
          <a:off x="765110" y="2239048"/>
          <a:ext cx="9759821" cy="461895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46461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154A8E-CAA2-42CA-856E-66DF7DF005B2}"/>
              </a:ext>
            </a:extLst>
          </p:cNvPr>
          <p:cNvSpPr txBox="1"/>
          <p:nvPr/>
        </p:nvSpPr>
        <p:spPr>
          <a:xfrm>
            <a:off x="470646" y="285108"/>
            <a:ext cx="10763411" cy="830997"/>
          </a:xfrm>
          <a:prstGeom prst="rect">
            <a:avLst/>
          </a:prstGeom>
          <a:noFill/>
        </p:spPr>
        <p:txBody>
          <a:bodyPr wrap="square" lIns="0" tIns="0" rIns="0" bIns="0" rtlCol="0">
            <a:spAutoFit/>
          </a:bodyPr>
          <a:lstStyle/>
          <a:p>
            <a:r>
              <a:rPr lang="en-US" sz="5400" b="1" dirty="0">
                <a:solidFill>
                  <a:srgbClr val="002060"/>
                </a:solidFill>
                <a:latin typeface="Segoe UI" panose="020B0502040204020203" pitchFamily="34" charset="0"/>
                <a:cs typeface="Segoe UI" panose="020B0502040204020203" pitchFamily="34" charset="0"/>
              </a:rPr>
              <a:t>Top 10 Countries w.r.t revenue </a:t>
            </a:r>
          </a:p>
        </p:txBody>
      </p:sp>
      <p:sp>
        <p:nvSpPr>
          <p:cNvPr id="11" name="Minus Sign 10">
            <a:extLst>
              <a:ext uri="{FF2B5EF4-FFF2-40B4-BE49-F238E27FC236}">
                <a16:creationId xmlns:a16="http://schemas.microsoft.com/office/drawing/2014/main" id="{1CD7DEEA-C01E-4164-832B-42838E9EF856}"/>
              </a:ext>
            </a:extLst>
          </p:cNvPr>
          <p:cNvSpPr/>
          <p:nvPr/>
        </p:nvSpPr>
        <p:spPr>
          <a:xfrm rot="5400000">
            <a:off x="-746312" y="746312"/>
            <a:ext cx="1963270"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A4D542-6C42-4DAA-8D3A-791CE0E11B94}"/>
              </a:ext>
            </a:extLst>
          </p:cNvPr>
          <p:cNvSpPr/>
          <p:nvPr/>
        </p:nvSpPr>
        <p:spPr>
          <a:xfrm>
            <a:off x="635480" y="1421073"/>
            <a:ext cx="11193416" cy="276999"/>
          </a:xfrm>
          <a:prstGeom prst="rect">
            <a:avLst/>
          </a:prstGeom>
        </p:spPr>
        <p:txBody>
          <a:bodyPr wrap="square" lIns="0" tIns="0" rIns="0" bIns="0">
            <a:spAutoFit/>
          </a:bodyPr>
          <a:lstStyle/>
          <a:p>
            <a:r>
              <a:rPr lang="en-US" b="1" dirty="0">
                <a:solidFill>
                  <a:srgbClr val="252423"/>
                </a:solidFill>
                <a:latin typeface="Segoe UI" panose="020B0502040204020203" pitchFamily="34" charset="0"/>
              </a:rPr>
              <a:t>Honduras </a:t>
            </a:r>
            <a:r>
              <a:rPr lang="en-US" b="0" i="0" dirty="0">
                <a:solidFill>
                  <a:srgbClr val="252423"/>
                </a:solidFill>
                <a:effectLst/>
                <a:latin typeface="Segoe UI" panose="020B0502040204020203" pitchFamily="34" charset="0"/>
              </a:rPr>
              <a:t>generated revenue of </a:t>
            </a:r>
            <a:r>
              <a:rPr lang="en-US" dirty="0">
                <a:solidFill>
                  <a:srgbClr val="252423"/>
                </a:solidFill>
                <a:latin typeface="Segoe UI" panose="020B0502040204020203" pitchFamily="34" charset="0"/>
              </a:rPr>
              <a:t>6.33</a:t>
            </a:r>
            <a:r>
              <a:rPr lang="en-US" b="0" i="0" dirty="0">
                <a:solidFill>
                  <a:srgbClr val="252423"/>
                </a:solidFill>
                <a:effectLst/>
                <a:latin typeface="Segoe UI" panose="020B0502040204020203" pitchFamily="34" charset="0"/>
              </a:rPr>
              <a:t>M followed </a:t>
            </a:r>
            <a:r>
              <a:rPr lang="en-US" b="1" i="0" dirty="0">
                <a:solidFill>
                  <a:srgbClr val="252423"/>
                </a:solidFill>
                <a:effectLst/>
                <a:latin typeface="Segoe UI" panose="020B0502040204020203" pitchFamily="34" charset="0"/>
              </a:rPr>
              <a:t>Myanmar</a:t>
            </a:r>
            <a:r>
              <a:rPr lang="en-US" i="0" dirty="0">
                <a:solidFill>
                  <a:srgbClr val="252423"/>
                </a:solidFill>
                <a:effectLst/>
                <a:latin typeface="Segoe UI" panose="020B0502040204020203" pitchFamily="34" charset="0"/>
              </a:rPr>
              <a:t> that’s </a:t>
            </a:r>
            <a:r>
              <a:rPr lang="en-US" dirty="0">
                <a:solidFill>
                  <a:srgbClr val="252423"/>
                </a:solidFill>
                <a:latin typeface="Segoe UI" panose="020B0502040204020203" pitchFamily="34" charset="0"/>
              </a:rPr>
              <a:t>6.16</a:t>
            </a:r>
            <a:r>
              <a:rPr lang="en-US" i="0" dirty="0">
                <a:solidFill>
                  <a:srgbClr val="252423"/>
                </a:solidFill>
                <a:effectLst/>
                <a:latin typeface="Segoe UI" panose="020B0502040204020203" pitchFamily="34" charset="0"/>
              </a:rPr>
              <a:t>M.</a:t>
            </a:r>
            <a:endParaRPr lang="en-US" b="1" dirty="0">
              <a:solidFill>
                <a:srgbClr val="474747"/>
              </a:solidFill>
              <a:latin typeface="Segoe UI Light" panose="020B0502040204020203" pitchFamily="34" charset="0"/>
              <a:cs typeface="Segoe UI Light" panose="020B0502040204020203" pitchFamily="34" charset="0"/>
            </a:endParaRPr>
          </a:p>
        </p:txBody>
      </p:sp>
      <p:graphicFrame>
        <p:nvGraphicFramePr>
          <p:cNvPr id="4" name="Chart 3">
            <a:extLst>
              <a:ext uri="{FF2B5EF4-FFF2-40B4-BE49-F238E27FC236}">
                <a16:creationId xmlns:a16="http://schemas.microsoft.com/office/drawing/2014/main" id="{F13C45B8-5194-0A11-F00B-9122417A213E}"/>
              </a:ext>
            </a:extLst>
          </p:cNvPr>
          <p:cNvGraphicFramePr>
            <a:graphicFrameLocks/>
          </p:cNvGraphicFramePr>
          <p:nvPr>
            <p:extLst>
              <p:ext uri="{D42A27DB-BD31-4B8C-83A1-F6EECF244321}">
                <p14:modId xmlns:p14="http://schemas.microsoft.com/office/powerpoint/2010/main" val="1643248924"/>
              </p:ext>
            </p:extLst>
          </p:nvPr>
        </p:nvGraphicFramePr>
        <p:xfrm>
          <a:off x="0" y="2057400"/>
          <a:ext cx="12110936" cy="4800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7953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154A8E-CAA2-42CA-856E-66DF7DF005B2}"/>
              </a:ext>
            </a:extLst>
          </p:cNvPr>
          <p:cNvSpPr txBox="1"/>
          <p:nvPr/>
        </p:nvSpPr>
        <p:spPr>
          <a:xfrm>
            <a:off x="470646" y="285108"/>
            <a:ext cx="11532668" cy="830997"/>
          </a:xfrm>
          <a:prstGeom prst="rect">
            <a:avLst/>
          </a:prstGeom>
          <a:noFill/>
        </p:spPr>
        <p:txBody>
          <a:bodyPr wrap="square" lIns="0" tIns="0" rIns="0" bIns="0" rtlCol="0">
            <a:spAutoFit/>
          </a:bodyPr>
          <a:lstStyle/>
          <a:p>
            <a:r>
              <a:rPr lang="en-US" sz="5400" b="1" dirty="0">
                <a:solidFill>
                  <a:srgbClr val="002060"/>
                </a:solidFill>
                <a:latin typeface="Segoe UI" panose="020B0502040204020203" pitchFamily="34" charset="0"/>
                <a:cs typeface="Segoe UI" panose="020B0502040204020203" pitchFamily="34" charset="0"/>
              </a:rPr>
              <a:t>Top Selling Item of Region.</a:t>
            </a:r>
          </a:p>
        </p:txBody>
      </p:sp>
      <p:sp>
        <p:nvSpPr>
          <p:cNvPr id="11" name="Minus Sign 10">
            <a:extLst>
              <a:ext uri="{FF2B5EF4-FFF2-40B4-BE49-F238E27FC236}">
                <a16:creationId xmlns:a16="http://schemas.microsoft.com/office/drawing/2014/main" id="{1CD7DEEA-C01E-4164-832B-42838E9EF856}"/>
              </a:ext>
            </a:extLst>
          </p:cNvPr>
          <p:cNvSpPr/>
          <p:nvPr/>
        </p:nvSpPr>
        <p:spPr>
          <a:xfrm rot="5400000">
            <a:off x="-746312" y="746312"/>
            <a:ext cx="1963270"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A4D542-6C42-4DAA-8D3A-791CE0E11B94}"/>
              </a:ext>
            </a:extLst>
          </p:cNvPr>
          <p:cNvSpPr/>
          <p:nvPr/>
        </p:nvSpPr>
        <p:spPr>
          <a:xfrm>
            <a:off x="499292" y="1401188"/>
            <a:ext cx="11193416" cy="276999"/>
          </a:xfrm>
          <a:prstGeom prst="rect">
            <a:avLst/>
          </a:prstGeom>
        </p:spPr>
        <p:txBody>
          <a:bodyPr wrap="square" lIns="0" tIns="0" rIns="0" bIns="0">
            <a:spAutoFit/>
          </a:bodyPr>
          <a:lstStyle/>
          <a:p>
            <a:r>
              <a:rPr lang="en-US" b="0" i="0" dirty="0">
                <a:solidFill>
                  <a:srgbClr val="252423"/>
                </a:solidFill>
                <a:effectLst/>
                <a:latin typeface="Segoe UI" panose="020B0502040204020203" pitchFamily="34" charset="0"/>
              </a:rPr>
              <a:t>The top </a:t>
            </a:r>
            <a:r>
              <a:rPr lang="en-US" dirty="0">
                <a:solidFill>
                  <a:srgbClr val="252423"/>
                </a:solidFill>
                <a:latin typeface="Segoe UI" panose="020B0502040204020203" pitchFamily="34" charset="0"/>
              </a:rPr>
              <a:t>selling Item </a:t>
            </a:r>
            <a:r>
              <a:rPr lang="en-US" b="0" i="0" dirty="0">
                <a:solidFill>
                  <a:srgbClr val="252423"/>
                </a:solidFill>
                <a:effectLst/>
                <a:latin typeface="Segoe UI" panose="020B0502040204020203" pitchFamily="34" charset="0"/>
              </a:rPr>
              <a:t>from each country. </a:t>
            </a:r>
            <a:endParaRPr lang="en-US" b="1" dirty="0">
              <a:solidFill>
                <a:srgbClr val="474747"/>
              </a:solidFill>
              <a:latin typeface="Segoe UI Light" panose="020B0502040204020203" pitchFamily="34" charset="0"/>
              <a:cs typeface="Segoe UI Light" panose="020B0502040204020203" pitchFamily="34" charset="0"/>
            </a:endParaRPr>
          </a:p>
        </p:txBody>
      </p:sp>
      <p:sp>
        <p:nvSpPr>
          <p:cNvPr id="9" name="TextBox 8">
            <a:extLst>
              <a:ext uri="{FF2B5EF4-FFF2-40B4-BE49-F238E27FC236}">
                <a16:creationId xmlns:a16="http://schemas.microsoft.com/office/drawing/2014/main" id="{93C29B40-5603-4B03-8B0A-7E910676D9E7}"/>
              </a:ext>
            </a:extLst>
          </p:cNvPr>
          <p:cNvSpPr txBox="1"/>
          <p:nvPr/>
        </p:nvSpPr>
        <p:spPr>
          <a:xfrm>
            <a:off x="609600" y="2641600"/>
            <a:ext cx="2307771" cy="3599543"/>
          </a:xfrm>
          <a:prstGeom prst="rect">
            <a:avLst/>
          </a:prstGeom>
          <a:noFill/>
        </p:spPr>
        <p:txBody>
          <a:bodyPr wrap="square" rtlCol="0">
            <a:spAutoFit/>
          </a:bodyPr>
          <a:lstStyle/>
          <a:p>
            <a:endParaRPr lang="en-US" dirty="0"/>
          </a:p>
        </p:txBody>
      </p:sp>
      <p:graphicFrame>
        <p:nvGraphicFramePr>
          <p:cNvPr id="3" name="Table 3">
            <a:extLst>
              <a:ext uri="{FF2B5EF4-FFF2-40B4-BE49-F238E27FC236}">
                <a16:creationId xmlns:a16="http://schemas.microsoft.com/office/drawing/2014/main" id="{408ECBE8-99EE-5AAE-695A-9D7D6ED1526B}"/>
              </a:ext>
            </a:extLst>
          </p:cNvPr>
          <p:cNvGraphicFramePr>
            <a:graphicFrameLocks noGrp="1"/>
          </p:cNvGraphicFramePr>
          <p:nvPr>
            <p:extLst>
              <p:ext uri="{D42A27DB-BD31-4B8C-83A1-F6EECF244321}">
                <p14:modId xmlns:p14="http://schemas.microsoft.com/office/powerpoint/2010/main" val="3269143028"/>
              </p:ext>
            </p:extLst>
          </p:nvPr>
        </p:nvGraphicFramePr>
        <p:xfrm>
          <a:off x="1060315" y="2101174"/>
          <a:ext cx="8453336" cy="4139963"/>
        </p:xfrm>
        <a:graphic>
          <a:graphicData uri="http://schemas.openxmlformats.org/drawingml/2006/table">
            <a:tbl>
              <a:tblPr firstRow="1" bandRow="1">
                <a:tableStyleId>{21E4AEA4-8DFA-4A89-87EB-49C32662AFE0}</a:tableStyleId>
              </a:tblPr>
              <a:tblGrid>
                <a:gridCol w="4226668">
                  <a:extLst>
                    <a:ext uri="{9D8B030D-6E8A-4147-A177-3AD203B41FA5}">
                      <a16:colId xmlns:a16="http://schemas.microsoft.com/office/drawing/2014/main" val="1650433157"/>
                    </a:ext>
                  </a:extLst>
                </a:gridCol>
                <a:gridCol w="4226668">
                  <a:extLst>
                    <a:ext uri="{9D8B030D-6E8A-4147-A177-3AD203B41FA5}">
                      <a16:colId xmlns:a16="http://schemas.microsoft.com/office/drawing/2014/main" val="3908575892"/>
                    </a:ext>
                  </a:extLst>
                </a:gridCol>
              </a:tblGrid>
              <a:tr h="511282">
                <a:tc>
                  <a:txBody>
                    <a:bodyPr/>
                    <a:lstStyle/>
                    <a:p>
                      <a:pPr algn="ctr"/>
                      <a:r>
                        <a:rPr lang="en-US" dirty="0"/>
                        <a:t>Region</a:t>
                      </a:r>
                      <a:endParaRPr lang="en-IN" dirty="0"/>
                    </a:p>
                  </a:txBody>
                  <a:tcPr/>
                </a:tc>
                <a:tc>
                  <a:txBody>
                    <a:bodyPr/>
                    <a:lstStyle/>
                    <a:p>
                      <a:pPr algn="ctr"/>
                      <a:r>
                        <a:rPr lang="en-US" dirty="0"/>
                        <a:t>Top Selling Item</a:t>
                      </a:r>
                      <a:endParaRPr lang="en-IN" dirty="0"/>
                    </a:p>
                  </a:txBody>
                  <a:tcPr/>
                </a:tc>
                <a:extLst>
                  <a:ext uri="{0D108BD9-81ED-4DB2-BD59-A6C34878D82A}">
                    <a16:rowId xmlns:a16="http://schemas.microsoft.com/office/drawing/2014/main" val="548440604"/>
                  </a:ext>
                </a:extLst>
              </a:tr>
              <a:tr h="518383">
                <a:tc>
                  <a:txBody>
                    <a:bodyPr/>
                    <a:lstStyle/>
                    <a:p>
                      <a:r>
                        <a:rPr lang="en-US" dirty="0"/>
                        <a:t>Asia</a:t>
                      </a:r>
                      <a:endParaRPr lang="en-IN" dirty="0"/>
                    </a:p>
                  </a:txBody>
                  <a:tcPr/>
                </a:tc>
                <a:tc>
                  <a:txBody>
                    <a:bodyPr/>
                    <a:lstStyle/>
                    <a:p>
                      <a:r>
                        <a:rPr lang="en-US" dirty="0"/>
                        <a:t>Clothes</a:t>
                      </a:r>
                    </a:p>
                  </a:txBody>
                  <a:tcPr/>
                </a:tc>
                <a:extLst>
                  <a:ext uri="{0D108BD9-81ED-4DB2-BD59-A6C34878D82A}">
                    <a16:rowId xmlns:a16="http://schemas.microsoft.com/office/drawing/2014/main" val="1057000193"/>
                  </a:ext>
                </a:extLst>
              </a:tr>
              <a:tr h="518383">
                <a:tc>
                  <a:txBody>
                    <a:bodyPr/>
                    <a:lstStyle/>
                    <a:p>
                      <a:r>
                        <a:rPr lang="en-US" dirty="0"/>
                        <a:t>Australia &amp; Oceania</a:t>
                      </a:r>
                      <a:endParaRPr lang="en-IN" dirty="0"/>
                    </a:p>
                  </a:txBody>
                  <a:tcPr/>
                </a:tc>
                <a:tc>
                  <a:txBody>
                    <a:bodyPr/>
                    <a:lstStyle/>
                    <a:p>
                      <a:r>
                        <a:rPr lang="en-US" dirty="0"/>
                        <a:t>Beverages</a:t>
                      </a:r>
                      <a:endParaRPr lang="en-IN" dirty="0"/>
                    </a:p>
                  </a:txBody>
                  <a:tcPr/>
                </a:tc>
                <a:extLst>
                  <a:ext uri="{0D108BD9-81ED-4DB2-BD59-A6C34878D82A}">
                    <a16:rowId xmlns:a16="http://schemas.microsoft.com/office/drawing/2014/main" val="4017070691"/>
                  </a:ext>
                </a:extLst>
              </a:tr>
              <a:tr h="518383">
                <a:tc>
                  <a:txBody>
                    <a:bodyPr/>
                    <a:lstStyle/>
                    <a:p>
                      <a:r>
                        <a:rPr lang="en-US" dirty="0"/>
                        <a:t>Central America &amp; Caribbean</a:t>
                      </a:r>
                      <a:endParaRPr lang="en-IN" dirty="0"/>
                    </a:p>
                  </a:txBody>
                  <a:tcPr/>
                </a:tc>
                <a:tc>
                  <a:txBody>
                    <a:bodyPr/>
                    <a:lstStyle/>
                    <a:p>
                      <a:r>
                        <a:rPr lang="en-US" dirty="0"/>
                        <a:t>Household</a:t>
                      </a:r>
                      <a:endParaRPr lang="en-IN" dirty="0"/>
                    </a:p>
                  </a:txBody>
                  <a:tcPr/>
                </a:tc>
                <a:extLst>
                  <a:ext uri="{0D108BD9-81ED-4DB2-BD59-A6C34878D82A}">
                    <a16:rowId xmlns:a16="http://schemas.microsoft.com/office/drawing/2014/main" val="546393120"/>
                  </a:ext>
                </a:extLst>
              </a:tr>
              <a:tr h="51838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Europe</a:t>
                      </a:r>
                      <a:endParaRPr lang="en-IN" dirty="0"/>
                    </a:p>
                  </a:txBody>
                  <a:tcPr/>
                </a:tc>
                <a:tc>
                  <a:txBody>
                    <a:bodyPr/>
                    <a:lstStyle/>
                    <a:p>
                      <a:r>
                        <a:rPr lang="en-US" dirty="0"/>
                        <a:t>Cosmetics</a:t>
                      </a:r>
                      <a:endParaRPr lang="en-IN" dirty="0"/>
                    </a:p>
                  </a:txBody>
                  <a:tcPr/>
                </a:tc>
                <a:extLst>
                  <a:ext uri="{0D108BD9-81ED-4DB2-BD59-A6C34878D82A}">
                    <a16:rowId xmlns:a16="http://schemas.microsoft.com/office/drawing/2014/main" val="1816193098"/>
                  </a:ext>
                </a:extLst>
              </a:tr>
              <a:tr h="51838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Middle East &amp; North Africa</a:t>
                      </a:r>
                      <a:endParaRPr lang="en-IN" dirty="0"/>
                    </a:p>
                  </a:txBody>
                  <a:tcPr/>
                </a:tc>
                <a:tc>
                  <a:txBody>
                    <a:bodyPr/>
                    <a:lstStyle/>
                    <a:p>
                      <a:r>
                        <a:rPr lang="en-US" dirty="0"/>
                        <a:t>Cosmetics</a:t>
                      </a:r>
                      <a:endParaRPr lang="en-IN" dirty="0"/>
                    </a:p>
                  </a:txBody>
                  <a:tcPr/>
                </a:tc>
                <a:extLst>
                  <a:ext uri="{0D108BD9-81ED-4DB2-BD59-A6C34878D82A}">
                    <a16:rowId xmlns:a16="http://schemas.microsoft.com/office/drawing/2014/main" val="1684528465"/>
                  </a:ext>
                </a:extLst>
              </a:tr>
              <a:tr h="51838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North America</a:t>
                      </a:r>
                      <a:endParaRPr lang="en-IN" dirty="0"/>
                    </a:p>
                  </a:txBody>
                  <a:tcPr/>
                </a:tc>
                <a:tc>
                  <a:txBody>
                    <a:bodyPr/>
                    <a:lstStyle/>
                    <a:p>
                      <a:r>
                        <a:rPr lang="en-US" dirty="0"/>
                        <a:t>Personal Care</a:t>
                      </a:r>
                      <a:endParaRPr lang="en-IN" dirty="0"/>
                    </a:p>
                  </a:txBody>
                  <a:tcPr/>
                </a:tc>
                <a:extLst>
                  <a:ext uri="{0D108BD9-81ED-4DB2-BD59-A6C34878D82A}">
                    <a16:rowId xmlns:a16="http://schemas.microsoft.com/office/drawing/2014/main" val="1526959121"/>
                  </a:ext>
                </a:extLst>
              </a:tr>
              <a:tr h="51838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Sub Saharan Africa</a:t>
                      </a:r>
                      <a:endParaRPr lang="en-IN" dirty="0"/>
                    </a:p>
                  </a:txBody>
                  <a:tcPr/>
                </a:tc>
                <a:tc>
                  <a:txBody>
                    <a:bodyPr/>
                    <a:lstStyle/>
                    <a:p>
                      <a:r>
                        <a:rPr lang="en-US" dirty="0"/>
                        <a:t>Fruits</a:t>
                      </a:r>
                      <a:endParaRPr lang="en-IN" dirty="0"/>
                    </a:p>
                  </a:txBody>
                  <a:tcPr/>
                </a:tc>
                <a:extLst>
                  <a:ext uri="{0D108BD9-81ED-4DB2-BD59-A6C34878D82A}">
                    <a16:rowId xmlns:a16="http://schemas.microsoft.com/office/drawing/2014/main" val="1023603356"/>
                  </a:ext>
                </a:extLst>
              </a:tr>
            </a:tbl>
          </a:graphicData>
        </a:graphic>
      </p:graphicFrame>
    </p:spTree>
    <p:extLst>
      <p:ext uri="{BB962C8B-B14F-4D97-AF65-F5344CB8AC3E}">
        <p14:creationId xmlns:p14="http://schemas.microsoft.com/office/powerpoint/2010/main" val="2077870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154A8E-CAA2-42CA-856E-66DF7DF005B2}"/>
              </a:ext>
            </a:extLst>
          </p:cNvPr>
          <p:cNvSpPr txBox="1"/>
          <p:nvPr/>
        </p:nvSpPr>
        <p:spPr>
          <a:xfrm>
            <a:off x="470646" y="285108"/>
            <a:ext cx="11547183" cy="830997"/>
          </a:xfrm>
          <a:prstGeom prst="rect">
            <a:avLst/>
          </a:prstGeom>
          <a:noFill/>
        </p:spPr>
        <p:txBody>
          <a:bodyPr wrap="square" lIns="0" tIns="0" rIns="0" bIns="0" rtlCol="0">
            <a:spAutoFit/>
          </a:bodyPr>
          <a:lstStyle/>
          <a:p>
            <a:r>
              <a:rPr lang="en-US" sz="5400" b="1" dirty="0">
                <a:solidFill>
                  <a:srgbClr val="002060"/>
                </a:solidFill>
                <a:latin typeface="Segoe UI" panose="020B0502040204020203" pitchFamily="34" charset="0"/>
                <a:cs typeface="Segoe UI" panose="020B0502040204020203" pitchFamily="34" charset="0"/>
              </a:rPr>
              <a:t>Items Sold w.r.t revenue</a:t>
            </a:r>
          </a:p>
        </p:txBody>
      </p:sp>
      <p:sp>
        <p:nvSpPr>
          <p:cNvPr id="11" name="Minus Sign 10">
            <a:extLst>
              <a:ext uri="{FF2B5EF4-FFF2-40B4-BE49-F238E27FC236}">
                <a16:creationId xmlns:a16="http://schemas.microsoft.com/office/drawing/2014/main" id="{1CD7DEEA-C01E-4164-832B-42838E9EF856}"/>
              </a:ext>
            </a:extLst>
          </p:cNvPr>
          <p:cNvSpPr/>
          <p:nvPr/>
        </p:nvSpPr>
        <p:spPr>
          <a:xfrm rot="5400000">
            <a:off x="-746312" y="746312"/>
            <a:ext cx="1963270"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A4D542-6C42-4DAA-8D3A-791CE0E11B94}"/>
              </a:ext>
            </a:extLst>
          </p:cNvPr>
          <p:cNvSpPr/>
          <p:nvPr/>
        </p:nvSpPr>
        <p:spPr>
          <a:xfrm>
            <a:off x="470645" y="1284051"/>
            <a:ext cx="11193415" cy="1107996"/>
          </a:xfrm>
          <a:prstGeom prst="rect">
            <a:avLst/>
          </a:prstGeom>
        </p:spPr>
        <p:txBody>
          <a:bodyPr wrap="square" lIns="0" tIns="0" rIns="0" bIns="0">
            <a:spAutoFit/>
          </a:bodyPr>
          <a:lstStyle/>
          <a:p>
            <a:br>
              <a:rPr lang="en-US" sz="2400" i="0" dirty="0">
                <a:solidFill>
                  <a:srgbClr val="252423"/>
                </a:solidFill>
                <a:effectLst/>
                <a:latin typeface="Cambria Math" panose="02040503050406030204" pitchFamily="18" charset="0"/>
                <a:ea typeface="Cambria Math" panose="02040503050406030204" pitchFamily="18" charset="0"/>
              </a:rPr>
            </a:br>
            <a:r>
              <a:rPr lang="en-US" sz="2400" i="0" dirty="0">
                <a:solidFill>
                  <a:srgbClr val="252423"/>
                </a:solidFill>
                <a:effectLst/>
                <a:latin typeface="Cambria Math" panose="02040503050406030204" pitchFamily="18" charset="0"/>
                <a:ea typeface="Cambria Math" panose="02040503050406030204" pitchFamily="18" charset="0"/>
              </a:rPr>
              <a:t>﻿Cosmetics &amp; Office Supplies</a:t>
            </a:r>
            <a:r>
              <a:rPr lang="en-US" sz="2400" dirty="0">
                <a:solidFill>
                  <a:srgbClr val="252423"/>
                </a:solidFill>
                <a:latin typeface="Cambria Math" panose="02040503050406030204" pitchFamily="18" charset="0"/>
                <a:ea typeface="Cambria Math" panose="02040503050406030204" pitchFamily="18" charset="0"/>
              </a:rPr>
              <a:t> are the Items with highest sales from all the Items. </a:t>
            </a:r>
            <a:br>
              <a:rPr lang="en-US" sz="2400" i="0" dirty="0">
                <a:solidFill>
                  <a:srgbClr val="252423"/>
                </a:solidFill>
                <a:effectLst/>
                <a:latin typeface="Cambria Math" panose="02040503050406030204" pitchFamily="18" charset="0"/>
                <a:ea typeface="Cambria Math" panose="02040503050406030204" pitchFamily="18" charset="0"/>
              </a:rPr>
            </a:br>
            <a:endParaRPr lang="en-US" sz="2400" dirty="0">
              <a:solidFill>
                <a:srgbClr val="474747"/>
              </a:solidFill>
              <a:latin typeface="Cambria Math" panose="02040503050406030204" pitchFamily="18" charset="0"/>
              <a:ea typeface="Cambria Math" panose="02040503050406030204" pitchFamily="18" charset="0"/>
              <a:cs typeface="Segoe UI Light" panose="020B0502040204020203" pitchFamily="34" charset="0"/>
            </a:endParaRPr>
          </a:p>
        </p:txBody>
      </p:sp>
      <p:graphicFrame>
        <p:nvGraphicFramePr>
          <p:cNvPr id="2" name="Chart 1">
            <a:extLst>
              <a:ext uri="{FF2B5EF4-FFF2-40B4-BE49-F238E27FC236}">
                <a16:creationId xmlns:a16="http://schemas.microsoft.com/office/drawing/2014/main" id="{F7F3C0F8-4DA0-027D-9E09-16303145B1FC}"/>
              </a:ext>
            </a:extLst>
          </p:cNvPr>
          <p:cNvGraphicFramePr>
            <a:graphicFrameLocks/>
          </p:cNvGraphicFramePr>
          <p:nvPr>
            <p:extLst>
              <p:ext uri="{D42A27DB-BD31-4B8C-83A1-F6EECF244321}">
                <p14:modId xmlns:p14="http://schemas.microsoft.com/office/powerpoint/2010/main" val="1090797807"/>
              </p:ext>
            </p:extLst>
          </p:nvPr>
        </p:nvGraphicFramePr>
        <p:xfrm>
          <a:off x="0" y="2282994"/>
          <a:ext cx="12192000" cy="45750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7398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6154A8E-CAA2-42CA-856E-66DF7DF005B2}"/>
              </a:ext>
            </a:extLst>
          </p:cNvPr>
          <p:cNvSpPr txBox="1"/>
          <p:nvPr/>
        </p:nvSpPr>
        <p:spPr>
          <a:xfrm>
            <a:off x="470647" y="285108"/>
            <a:ext cx="6830040" cy="830997"/>
          </a:xfrm>
          <a:prstGeom prst="rect">
            <a:avLst/>
          </a:prstGeom>
          <a:noFill/>
        </p:spPr>
        <p:txBody>
          <a:bodyPr wrap="square" lIns="0" tIns="0" rIns="0" bIns="0" rtlCol="0">
            <a:spAutoFit/>
          </a:bodyPr>
          <a:lstStyle/>
          <a:p>
            <a:r>
              <a:rPr lang="en-US" sz="5400" b="1" dirty="0">
                <a:solidFill>
                  <a:srgbClr val="002060"/>
                </a:solidFill>
                <a:latin typeface="Segoe UI" panose="020B0502040204020203" pitchFamily="34" charset="0"/>
                <a:cs typeface="Segoe UI" panose="020B0502040204020203" pitchFamily="34" charset="0"/>
              </a:rPr>
              <a:t>Conclusion</a:t>
            </a:r>
          </a:p>
        </p:txBody>
      </p:sp>
      <p:sp>
        <p:nvSpPr>
          <p:cNvPr id="11" name="Minus Sign 10">
            <a:extLst>
              <a:ext uri="{FF2B5EF4-FFF2-40B4-BE49-F238E27FC236}">
                <a16:creationId xmlns:a16="http://schemas.microsoft.com/office/drawing/2014/main" id="{1CD7DEEA-C01E-4164-832B-42838E9EF856}"/>
              </a:ext>
            </a:extLst>
          </p:cNvPr>
          <p:cNvSpPr/>
          <p:nvPr/>
        </p:nvSpPr>
        <p:spPr>
          <a:xfrm rot="5400000">
            <a:off x="-3857707" y="3320677"/>
            <a:ext cx="8186061" cy="470646"/>
          </a:xfrm>
          <a:prstGeom prst="mathMinus">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A4D542-6C42-4DAA-8D3A-791CE0E11B94}"/>
              </a:ext>
            </a:extLst>
          </p:cNvPr>
          <p:cNvSpPr/>
          <p:nvPr/>
        </p:nvSpPr>
        <p:spPr>
          <a:xfrm>
            <a:off x="340468" y="1401213"/>
            <a:ext cx="11851531" cy="3339376"/>
          </a:xfrm>
          <a:prstGeom prst="rect">
            <a:avLst/>
          </a:prstGeom>
        </p:spPr>
        <p:txBody>
          <a:bodyPr wrap="square" lIns="0" tIns="0" rIns="0" bIns="0">
            <a:spAutoFit/>
          </a:bodyPr>
          <a:lstStyle/>
          <a:p>
            <a:pPr>
              <a:spcBef>
                <a:spcPts val="500"/>
              </a:spcBef>
              <a:spcAft>
                <a:spcPts val="500"/>
              </a:spcAft>
            </a:pPr>
            <a:r>
              <a:rPr lang="en-US" sz="2400" dirty="0">
                <a:latin typeface="Cambria Math" panose="02040503050406030204" pitchFamily="18" charset="0"/>
                <a:ea typeface="Cambria Math" panose="02040503050406030204" pitchFamily="18" charset="0"/>
              </a:rPr>
              <a:t>1. </a:t>
            </a:r>
            <a:r>
              <a:rPr lang="en-US" sz="2400" b="0" i="0" dirty="0">
                <a:solidFill>
                  <a:srgbClr val="252423"/>
                </a:solidFill>
                <a:effectLst/>
                <a:latin typeface="Cambria Math" panose="02040503050406030204" pitchFamily="18" charset="0"/>
                <a:ea typeface="Cambria Math" panose="02040503050406030204" pitchFamily="18" charset="0"/>
              </a:rPr>
              <a:t>﻿2012 had the highest Revenue at </a:t>
            </a:r>
            <a:r>
              <a:rPr lang="en-US" sz="2400" dirty="0">
                <a:solidFill>
                  <a:srgbClr val="252423"/>
                </a:solidFill>
                <a:latin typeface="Cambria Math" panose="02040503050406030204" pitchFamily="18" charset="0"/>
                <a:ea typeface="Cambria Math" panose="02040503050406030204" pitchFamily="18" charset="0"/>
              </a:rPr>
              <a:t>3</a:t>
            </a:r>
            <a:r>
              <a:rPr lang="en-US" sz="2400" b="0" i="0" dirty="0">
                <a:solidFill>
                  <a:srgbClr val="252423"/>
                </a:solidFill>
                <a:effectLst/>
                <a:latin typeface="Cambria Math" panose="02040503050406030204" pitchFamily="18" charset="0"/>
                <a:ea typeface="Cambria Math" panose="02040503050406030204" pitchFamily="18" charset="0"/>
              </a:rPr>
              <a:t>2M, followed by 2013 at </a:t>
            </a:r>
            <a:r>
              <a:rPr lang="en-US" sz="2400" dirty="0">
                <a:solidFill>
                  <a:srgbClr val="252423"/>
                </a:solidFill>
                <a:latin typeface="Cambria Math" panose="02040503050406030204" pitchFamily="18" charset="0"/>
                <a:ea typeface="Cambria Math" panose="02040503050406030204" pitchFamily="18" charset="0"/>
              </a:rPr>
              <a:t>20M</a:t>
            </a:r>
            <a:r>
              <a:rPr lang="en-US" sz="2400" b="0" i="0" dirty="0">
                <a:solidFill>
                  <a:srgbClr val="252423"/>
                </a:solidFill>
                <a:effectLst/>
                <a:latin typeface="Cambria Math" panose="02040503050406030204" pitchFamily="18" charset="0"/>
                <a:ea typeface="Cambria Math" panose="02040503050406030204" pitchFamily="18" charset="0"/>
              </a:rPr>
              <a:t> and 2010 at </a:t>
            </a:r>
            <a:r>
              <a:rPr lang="en-US" sz="2400" dirty="0">
                <a:solidFill>
                  <a:srgbClr val="252423"/>
                </a:solidFill>
                <a:latin typeface="Cambria Math" panose="02040503050406030204" pitchFamily="18" charset="0"/>
                <a:ea typeface="Cambria Math" panose="02040503050406030204" pitchFamily="18" charset="0"/>
              </a:rPr>
              <a:t>19</a:t>
            </a:r>
            <a:r>
              <a:rPr lang="en-US" sz="2400" b="0" i="0" dirty="0">
                <a:solidFill>
                  <a:srgbClr val="252423"/>
                </a:solidFill>
                <a:effectLst/>
                <a:latin typeface="Cambria Math" panose="02040503050406030204" pitchFamily="18" charset="0"/>
                <a:ea typeface="Cambria Math" panose="02040503050406030204" pitchFamily="18" charset="0"/>
              </a:rPr>
              <a:t>M﻿.</a:t>
            </a:r>
            <a:endParaRPr lang="en-US" sz="2400" dirty="0">
              <a:latin typeface="Cambria Math" panose="02040503050406030204" pitchFamily="18" charset="0"/>
              <a:ea typeface="Cambria Math" panose="02040503050406030204" pitchFamily="18" charset="0"/>
            </a:endParaRPr>
          </a:p>
          <a:p>
            <a:pPr>
              <a:spcBef>
                <a:spcPts val="500"/>
              </a:spcBef>
              <a:spcAft>
                <a:spcPts val="500"/>
              </a:spcAft>
            </a:pPr>
            <a:r>
              <a:rPr lang="en-US" sz="2400" dirty="0">
                <a:latin typeface="Cambria Math" panose="02040503050406030204" pitchFamily="18" charset="0"/>
                <a:ea typeface="Cambria Math" panose="02040503050406030204" pitchFamily="18" charset="0"/>
              </a:rPr>
              <a:t>2. If we observe the monthly insights of 2010-2017 the sales are at their peak in July, February and are low in March, August, December. Amazon can come up with some good discounts and offers to generate high revenue.</a:t>
            </a:r>
          </a:p>
          <a:p>
            <a:pPr>
              <a:spcBef>
                <a:spcPts val="500"/>
              </a:spcBef>
              <a:spcAft>
                <a:spcPts val="500"/>
              </a:spcAft>
            </a:pPr>
            <a:r>
              <a:rPr lang="en-US" sz="2400" dirty="0">
                <a:latin typeface="Cambria Math" panose="02040503050406030204" pitchFamily="18" charset="0"/>
                <a:ea typeface="Cambria Math" panose="02040503050406030204" pitchFamily="18" charset="0"/>
              </a:rPr>
              <a:t>3. The sales for the Sub Saharan Africa are highest among all Regions and lowest in North America.</a:t>
            </a:r>
          </a:p>
          <a:p>
            <a:pPr>
              <a:spcBef>
                <a:spcPts val="500"/>
              </a:spcBef>
              <a:spcAft>
                <a:spcPts val="500"/>
              </a:spcAft>
            </a:pPr>
            <a:r>
              <a:rPr lang="en-US" sz="2400" dirty="0">
                <a:latin typeface="Cambria Math" panose="02040503050406030204" pitchFamily="18" charset="0"/>
                <a:ea typeface="Cambria Math" panose="02040503050406030204" pitchFamily="18" charset="0"/>
              </a:rPr>
              <a:t>4. </a:t>
            </a:r>
            <a:r>
              <a:rPr lang="en-US" sz="2400" i="0" dirty="0">
                <a:solidFill>
                  <a:srgbClr val="252423"/>
                </a:solidFill>
                <a:effectLst/>
                <a:latin typeface="Cambria Math" panose="02040503050406030204" pitchFamily="18" charset="0"/>
                <a:ea typeface="Cambria Math" panose="02040503050406030204" pitchFamily="18" charset="0"/>
              </a:rPr>
              <a:t>﻿Cosmetics &amp; Office Supplies</a:t>
            </a:r>
            <a:r>
              <a:rPr lang="en-US" sz="2400" dirty="0">
                <a:solidFill>
                  <a:srgbClr val="252423"/>
                </a:solidFill>
                <a:latin typeface="Cambria Math" panose="02040503050406030204" pitchFamily="18" charset="0"/>
                <a:ea typeface="Cambria Math" panose="02040503050406030204" pitchFamily="18" charset="0"/>
              </a:rPr>
              <a:t> are the Items with highest sales from all the Items. </a:t>
            </a:r>
            <a:br>
              <a:rPr lang="en-US" sz="2400" i="0" dirty="0">
                <a:solidFill>
                  <a:srgbClr val="252423"/>
                </a:solidFill>
                <a:effectLst/>
                <a:latin typeface="Cambria Math" panose="02040503050406030204" pitchFamily="18" charset="0"/>
                <a:ea typeface="Cambria Math" panose="02040503050406030204" pitchFamily="18" charset="0"/>
              </a:rPr>
            </a:br>
            <a:r>
              <a:rPr lang="en-US" sz="2400" dirty="0">
                <a:latin typeface="Cambria Math" panose="02040503050406030204" pitchFamily="18" charset="0"/>
                <a:ea typeface="Cambria Math" panose="02040503050406030204" pitchFamily="18" charset="0"/>
              </a:rPr>
              <a:t>5. </a:t>
            </a:r>
            <a:r>
              <a:rPr lang="en-US" sz="2400" b="1" dirty="0">
                <a:solidFill>
                  <a:srgbClr val="252423"/>
                </a:solidFill>
                <a:latin typeface="Cambria Math" panose="02040503050406030204" pitchFamily="18" charset="0"/>
                <a:ea typeface="Cambria Math" panose="02040503050406030204" pitchFamily="18" charset="0"/>
              </a:rPr>
              <a:t>Honduras </a:t>
            </a:r>
            <a:r>
              <a:rPr lang="en-US" sz="2400" b="0" i="0" dirty="0">
                <a:solidFill>
                  <a:srgbClr val="252423"/>
                </a:solidFill>
                <a:effectLst/>
                <a:latin typeface="Cambria Math" panose="02040503050406030204" pitchFamily="18" charset="0"/>
                <a:ea typeface="Cambria Math" panose="02040503050406030204" pitchFamily="18" charset="0"/>
              </a:rPr>
              <a:t>generated revenue of </a:t>
            </a:r>
            <a:r>
              <a:rPr lang="en-US" sz="2400" dirty="0">
                <a:solidFill>
                  <a:srgbClr val="252423"/>
                </a:solidFill>
                <a:latin typeface="Cambria Math" panose="02040503050406030204" pitchFamily="18" charset="0"/>
                <a:ea typeface="Cambria Math" panose="02040503050406030204" pitchFamily="18" charset="0"/>
              </a:rPr>
              <a:t>6.33</a:t>
            </a:r>
            <a:r>
              <a:rPr lang="en-US" sz="2400" b="0" i="0" dirty="0">
                <a:solidFill>
                  <a:srgbClr val="252423"/>
                </a:solidFill>
                <a:effectLst/>
                <a:latin typeface="Cambria Math" panose="02040503050406030204" pitchFamily="18" charset="0"/>
                <a:ea typeface="Cambria Math" panose="02040503050406030204" pitchFamily="18" charset="0"/>
              </a:rPr>
              <a:t>M followed </a:t>
            </a:r>
            <a:r>
              <a:rPr lang="en-US" sz="2400" b="1" i="0" dirty="0">
                <a:solidFill>
                  <a:srgbClr val="252423"/>
                </a:solidFill>
                <a:effectLst/>
                <a:latin typeface="Cambria Math" panose="02040503050406030204" pitchFamily="18" charset="0"/>
                <a:ea typeface="Cambria Math" panose="02040503050406030204" pitchFamily="18" charset="0"/>
              </a:rPr>
              <a:t>Myanmar</a:t>
            </a:r>
            <a:r>
              <a:rPr lang="en-US" sz="2400" i="0" dirty="0">
                <a:solidFill>
                  <a:srgbClr val="252423"/>
                </a:solidFill>
                <a:effectLst/>
                <a:latin typeface="Cambria Math" panose="02040503050406030204" pitchFamily="18" charset="0"/>
                <a:ea typeface="Cambria Math" panose="02040503050406030204" pitchFamily="18" charset="0"/>
              </a:rPr>
              <a:t> that’s </a:t>
            </a:r>
            <a:r>
              <a:rPr lang="en-US" sz="2400" dirty="0">
                <a:solidFill>
                  <a:srgbClr val="252423"/>
                </a:solidFill>
                <a:latin typeface="Cambria Math" panose="02040503050406030204" pitchFamily="18" charset="0"/>
                <a:ea typeface="Cambria Math" panose="02040503050406030204" pitchFamily="18" charset="0"/>
              </a:rPr>
              <a:t>6.16</a:t>
            </a:r>
            <a:r>
              <a:rPr lang="en-US" sz="2400" i="0" dirty="0">
                <a:solidFill>
                  <a:srgbClr val="252423"/>
                </a:solidFill>
                <a:effectLst/>
                <a:latin typeface="Cambria Math" panose="02040503050406030204" pitchFamily="18" charset="0"/>
                <a:ea typeface="Cambria Math" panose="02040503050406030204" pitchFamily="18" charset="0"/>
              </a:rPr>
              <a:t>M.</a:t>
            </a:r>
            <a:endParaRPr lang="en-US" sz="2400" b="1" dirty="0">
              <a:solidFill>
                <a:srgbClr val="474747"/>
              </a:solidFill>
              <a:latin typeface="Cambria Math" panose="02040503050406030204" pitchFamily="18" charset="0"/>
              <a:ea typeface="Cambria Math" panose="02040503050406030204" pitchFamily="18" charset="0"/>
              <a:cs typeface="Segoe UI Light" panose="020B0502040204020203" pitchFamily="34" charset="0"/>
            </a:endParaRPr>
          </a:p>
        </p:txBody>
      </p:sp>
    </p:spTree>
    <p:extLst>
      <p:ext uri="{BB962C8B-B14F-4D97-AF65-F5344CB8AC3E}">
        <p14:creationId xmlns:p14="http://schemas.microsoft.com/office/powerpoint/2010/main" val="30532105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2366</TotalTime>
  <Words>502</Words>
  <Application>Microsoft Office PowerPoint</Application>
  <PresentationFormat>Widescreen</PresentationFormat>
  <Paragraphs>96</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Arial</vt:lpstr>
      <vt:lpstr>Calibri</vt:lpstr>
      <vt:lpstr>Cambria Math</vt:lpstr>
      <vt:lpstr>Century Gothic</vt:lpstr>
      <vt:lpstr>Segoe UI</vt:lpstr>
      <vt:lpstr>Segoe UI Light</vt:lpstr>
      <vt:lpstr>Segoe UI Semibold</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ashish raykar</dc:creator>
  <cp:lastModifiedBy>Vijaya Dhangar</cp:lastModifiedBy>
  <cp:revision>67</cp:revision>
  <dcterms:created xsi:type="dcterms:W3CDTF">2021-12-23T07:21:38Z</dcterms:created>
  <dcterms:modified xsi:type="dcterms:W3CDTF">2023-03-28T10:00:25Z</dcterms:modified>
</cp:coreProperties>
</file>